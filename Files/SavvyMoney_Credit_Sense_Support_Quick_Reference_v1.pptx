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4a29fd56874341" /><Relationship Type="http://schemas.openxmlformats.org/officeDocument/2006/relationships/extended-properties" Target="/docProps/app.xml" Id="Rc0fc5812c77e434e" /><Relationship Type="http://schemas.openxmlformats.org/officeDocument/2006/relationships/officeDocument" Target="/ppt/presentation.xml" Id="Ra4acfdcdd6b54a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1c0956ff5a415a"/>
  </p:sldMasterIdLst>
  <p:notesMasterIdLst>
    <p:notesMasterId xmlns:r="http://schemas.openxmlformats.org/officeDocument/2006/relationships" r:id="Rcdf6b9c1207e4db9"/>
  </p:notesMasterIdLst>
  <p:sldIdLst>
    <p:sldId xmlns:r="http://schemas.openxmlformats.org/officeDocument/2006/relationships" id="256" r:id="R61785ea29db94705"/>
    <p:sldId xmlns:r="http://schemas.openxmlformats.org/officeDocument/2006/relationships" id="257" r:id="R7315bc71def14ed7"/>
    <p:sldId xmlns:r="http://schemas.openxmlformats.org/officeDocument/2006/relationships" id="258" r:id="R15a46f1c35c64c59"/>
    <p:sldId xmlns:r="http://schemas.openxmlformats.org/officeDocument/2006/relationships" id="259" r:id="R06d54dfaed1d4ffa"/>
    <p:sldId xmlns:r="http://schemas.openxmlformats.org/officeDocument/2006/relationships" id="260" r:id="Rd225335e56fe4f45"/>
    <p:sldId xmlns:r="http://schemas.openxmlformats.org/officeDocument/2006/relationships" id="261" r:id="R18968f83c78d4d04"/>
    <p:sldId xmlns:r="http://schemas.openxmlformats.org/officeDocument/2006/relationships" id="262" r:id="Rf69ae81e356243c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cab391269142b3" /><Relationship Type="http://schemas.openxmlformats.org/officeDocument/2006/relationships/slideMaster" Target="/ppt/slideMasters/slideMaster1.xml" Id="Rc01c0956ff5a415a" /><Relationship Type="http://schemas.openxmlformats.org/officeDocument/2006/relationships/notesMaster" Target="/ppt/notesMasters/notesMaster1.xml" Id="Rcdf6b9c1207e4db9" /><Relationship Type="http://schemas.openxmlformats.org/officeDocument/2006/relationships/presProps" Target="/ppt/presProps.xml" Id="Rbebd887dcb914335" /><Relationship Type="http://schemas.openxmlformats.org/officeDocument/2006/relationships/tableStyles" Target="/ppt/tableStyles.xml" Id="Redd4847b04cd41b6" /><Relationship Type="http://schemas.openxmlformats.org/officeDocument/2006/relationships/slide" Target="/ppt/slides/slide1.xml" Id="R61785ea29db94705" /><Relationship Type="http://schemas.openxmlformats.org/officeDocument/2006/relationships/slide" Target="/ppt/slides/slide2.xml" Id="R7315bc71def14ed7" /><Relationship Type="http://schemas.openxmlformats.org/officeDocument/2006/relationships/slide" Target="/ppt/slides/slide3.xml" Id="R15a46f1c35c64c59" /><Relationship Type="http://schemas.openxmlformats.org/officeDocument/2006/relationships/slide" Target="/ppt/slides/slide4.xml" Id="R06d54dfaed1d4ffa" /><Relationship Type="http://schemas.openxmlformats.org/officeDocument/2006/relationships/slide" Target="/ppt/slides/slide5.xml" Id="Rd225335e56fe4f45" /><Relationship Type="http://schemas.openxmlformats.org/officeDocument/2006/relationships/slide" Target="/ppt/slides/slide6.xml" Id="R18968f83c78d4d04" /><Relationship Type="http://schemas.openxmlformats.org/officeDocument/2006/relationships/slide" Target="/ppt/slides/slide7.xml" Id="Rf69ae81e356243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092f1b723a44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954c6dfe6549ed" /><Relationship Type="http://schemas.openxmlformats.org/officeDocument/2006/relationships/notesMaster" Target="/ppt/notesMasters/notesMaster1.xml" Id="R7fba30040ee040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d4a45937c2436d" /><Relationship Type="http://schemas.openxmlformats.org/officeDocument/2006/relationships/notesMaster" Target="/ppt/notesMasters/notesMaster1.xml" Id="Rc073a31d5eaa44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dfedb3942a49c7" /><Relationship Type="http://schemas.openxmlformats.org/officeDocument/2006/relationships/notesMaster" Target="/ppt/notesMasters/notesMaster1.xml" Id="R74c8d291a33f4a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bf0e4feb8e94b8d" /><Relationship Type="http://schemas.openxmlformats.org/officeDocument/2006/relationships/notesMaster" Target="/ppt/notesMasters/notesMaster1.xml" Id="Rce8a4b9b45e94e1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e932aa1eb26436a" /><Relationship Type="http://schemas.openxmlformats.org/officeDocument/2006/relationships/notesMaster" Target="/ppt/notesMasters/notesMaster1.xml" Id="R974b441b78dd4af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24ff30efa643d1" /><Relationship Type="http://schemas.openxmlformats.org/officeDocument/2006/relationships/notesMaster" Target="/ppt/notesMasters/notesMaster1.xml" Id="Rb767e07906424bb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de76b40328345c1" /><Relationship Type="http://schemas.openxmlformats.org/officeDocument/2006/relationships/notesMaster" Target="/ppt/notesMasters/notesMaster1.xml" Id="Re9fbb5c79ff342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Short-form companion to the Launch Support &amp; Stabilization Runbook. Populate the contacts and target times before distribution.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Frontline intake summary. Follow the institution's approved identity verification and data-handling policies.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accessed September 17, 2026:</a:t>
            </a:r>
          </a:p>
          <a:p xmlns:a="http://schemas.openxmlformats.org/drawingml/2006/main">
            <a:r>
              <a:t>- https://www.savvymoney.com/privacy-policy/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Quick routing view. Complaint, fraud and privacy indicators override ordinary product troubleshooting.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accessed September 17, 2026:</a:t>
            </a:r>
          </a:p>
          <a:p xmlns:a="http://schemas.openxmlformats.org/drawingml/2006/main">
            <a:r>
              <a:t>- https://files.consumerfinance.gov/f/documents/cfpb_supervision-and-examination-manual_2022-12.pdf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statements come from official SavvyMoney and TransUnion materials. Public SavvyMoney sources conflict on automatic refresh cadence.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accessed September 17, 2026:</a:t>
            </a:r>
          </a:p>
          <a:p xmlns:a="http://schemas.openxmlformats.org/drawingml/2006/main">
            <a:r>
              <a:t>- https://hub.savvymoney.com/cms/delivery/media/MC6XKPXMHZ5JDXNLMBIR4DA6U24Y</a:t>
            </a:r>
          </a:p>
          <a:p xmlns:a="http://schemas.openxmlformats.org/drawingml/2006/main">
            <a:r>
              <a:t>- https://hub.savvymoney.com/cms/delivery/media/MC4VEVWHCSOBCZVN7K4DDHALKZMI</a:t>
            </a:r>
          </a:p>
          <a:p xmlns:a="http://schemas.openxmlformats.org/drawingml/2006/main">
            <a:r>
              <a:t>- https://www.transunion.com/credit-disputes/credit-disputes-faq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Targets are placeholders. Confirm against the institution's policy, staffing and vendor agreement. A 2022 SavvyMoney support document is not treated as the current contract.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accessed September 17, 2026:</a:t>
            </a:r>
          </a:p>
          <a:p xmlns:a="http://schemas.openxmlformats.org/drawingml/2006/main">
            <a:r>
              <a:t>- https://hub.savvymoney.com/cms/delivery/media/MCVVOFZ3TWVRG3JOVM4TPIXIPODU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Approved-answer content should receive final Compliance review. Product facts are supported by official SavvyMoney materials and TransUnion dispute guidance.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accessed September 17, 2026:</a:t>
            </a:r>
          </a:p>
          <a:p xmlns:a="http://schemas.openxmlformats.org/drawingml/2006/main">
            <a:r>
              <a:t>- https://hub.savvymoney.com/cms/delivery/media/MC6XKPXMHZ5JDXNLMBIR4DA6U24Y</a:t>
            </a:r>
          </a:p>
          <a:p xmlns:a="http://schemas.openxmlformats.org/drawingml/2006/main">
            <a:r>
              <a:t>- https://hub.savvymoney.com/cms/delivery/media/MC4VEVWHCSOBCZVN7K4DDHALKZMI</a:t>
            </a:r>
          </a:p>
          <a:p xmlns:a="http://schemas.openxmlformats.org/drawingml/2006/main">
            <a:r>
              <a:t>- https://www.transunion.com/credit-disputes/credit-disputes-faq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Contact sheet. No named vendor employees are hard-coded because assignments change. Validate all routes before frontline distribution.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accessed September 17, 2026:</a:t>
            </a:r>
          </a:p>
          <a:p xmlns:a="http://schemas.openxmlformats.org/drawingml/2006/main">
            <a:r>
              <a:t>- https://www.savvymoney.com/products/the-hub/</a:t>
            </a:r>
          </a:p>
          <a:p xmlns:a="http://schemas.openxmlformats.org/drawingml/2006/main">
            <a:r>
              <a:t>- https://www.savvymoney.com/terms-of-service/</a:t>
            </a:r>
          </a:p>
          <a:p xmlns:a="http://schemas.openxmlformats.org/drawingml/2006/main">
            <a:r>
              <a:t>- https://hub.savvymoney.com/cms/delivery/media/MCVVOFZ3TWVRG3JOVM4TPIXIPODU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bc8ec5dd0d49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012eb77fd14471" /><Relationship Type="http://schemas.openxmlformats.org/officeDocument/2006/relationships/slideLayout" Target="/ppt/slideLayouts/slideLayout1.xml" Id="R4e1cf3ac43fd4c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1cf3ac43fd4c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16fff127524c3a" /><Relationship Type="http://schemas.openxmlformats.org/officeDocument/2006/relationships/notesSlide" Target="/ppt/notesSlides/notesSlide1.xml" Id="R59ee11caefb7450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f44c39105b49bb" /><Relationship Type="http://schemas.openxmlformats.org/officeDocument/2006/relationships/notesSlide" Target="/ppt/notesSlides/notesSlide2.xml" Id="Rff9616cf6dc042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5e6f72bf774d1a" /><Relationship Type="http://schemas.openxmlformats.org/officeDocument/2006/relationships/notesSlide" Target="/ppt/notesSlides/notesSlide3.xml" Id="R3f59a2e0815d4e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c2c9612972492f" /><Relationship Type="http://schemas.openxmlformats.org/officeDocument/2006/relationships/notesSlide" Target="/ppt/notesSlides/notesSlide4.xml" Id="R8da4bf5df8994c5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7dc917eef54013" /><Relationship Type="http://schemas.openxmlformats.org/officeDocument/2006/relationships/notesSlide" Target="/ppt/notesSlides/notesSlide5.xml" Id="Raafa9c6c024e4d0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e844ab575549b1" /><Relationship Type="http://schemas.openxmlformats.org/officeDocument/2006/relationships/notesSlide" Target="/ppt/notesSlides/notesSlide6.xml" Id="R0c2d6fff04e24bc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90a21c11f044fc" /><Relationship Type="http://schemas.openxmlformats.org/officeDocument/2006/relationships/notesSlide" Target="/ppt/notesSlides/notesSlide7.xml" Id="R3f01e20f553c4f3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D6B27C-FDE4-448F-BE16-05588878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2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C8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64BE7C-C8A5-40FC-8149-6765F75EC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001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1" i="0">
                <a:solidFill>
                  <a:srgbClr val="3AA6A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AA6A8"/>
                </a:solidFill>
                <a:latin typeface="Arial"/>
                <a:ea typeface="Arial"/>
                <a:cs typeface="Arial"/>
              </a:rPr>
              <a:t>SAVVYMONEY CREDIT SENSE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DEC1CF-8A7A-4F65-B836-EF58122B7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81125"/>
            <a:ext cx="99536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Support Quick Reference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FB6A9E-82D9-4F76-A3C6-B5B97D27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24225"/>
            <a:ext cx="3076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9952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CC2158-1431-4140-A143-F5C0681C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8858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 i="0">
                <a:solidFill>
                  <a:srgbClr val="D8E3EC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D8E3EC"/>
                </a:solidFill>
                <a:latin typeface="Arial"/>
                <a:ea typeface="Arial"/>
                <a:cs typeface="Arial"/>
              </a:rPr>
              <a:t>Frontline triage, approved answers and escalation routes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FD7722-6AF0-4A3A-B1E0-6AD982E3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340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 i="0">
                <a:solidFill>
                  <a:srgbClr val="AFC1CF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FC1CF"/>
                </a:solidFill>
                <a:latin typeface="Arial"/>
                <a:ea typeface="Arial"/>
                <a:cs typeface="Arial"/>
              </a:rPr>
              <a:t>[FINANCIAL INSTITUTION]  |  Frontline use  |  Version 1.0  |  September 17, 2026</a:t>
            </a:r>
          </a:p>
        </p:txBody>
      </p:sp>
    </p:spTree>
    <p:extLst>
      <p:ext uri="{BB962C8B-B14F-4D97-AF65-F5344CB8AC3E}">
        <p14:creationId xmlns:p14="http://schemas.microsoft.com/office/powerpoint/2010/main" val="2002839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2DD4E4-072F-4986-AB83-71719CF9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C8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1349EF-02D4-4F8B-ADF3-A9700F0E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The first five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E00094-BE88-4B06-A6CF-EE451500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1" i="0">
                <a:solidFill>
                  <a:srgbClr val="0A7C8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A7C86"/>
                </a:solidFill>
                <a:latin typeface="Arial"/>
                <a:ea typeface="Arial"/>
                <a:cs typeface="Arial"/>
              </a:rPr>
              <a:t>FRONTLINE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91207C-702A-4412-A94C-953E1E1F8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620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4D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2F483C-A92E-4A5A-8790-914BC8B18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885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38" b="0" i="0">
                <a:solidFill>
                  <a:srgbClr val="526778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526778"/>
                </a:solidFill>
                <a:latin typeface="Arial"/>
                <a:ea typeface="Arial"/>
                <a:cs typeface="Arial"/>
              </a:rPr>
              <a:t>INTERNAL USE  |  Confirm local policy, contacts and contractual service levels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3F8234-E396-451B-8136-8EB1B5A2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38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75" b="1" i="0">
                <a:solidFill>
                  <a:srgbClr val="0A7C8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A7C8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19A113-8031-42E4-8184-579D13467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7C8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F39B8F-6EB5-42C9-AB83-D35748F4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2763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Authenticate normally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B9C806-647B-4804-B376-C536EE88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257300"/>
            <a:ext cx="6858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38" b="0" i="0">
                <a:solidFill>
                  <a:srgbClr val="17283A"/>
                </a:solidFill>
                <a:latin typeface="Arial"/>
                <a:ea typeface="Arial"/>
                <a:cs typeface="Arial"/>
              </a:defRPr>
            </a:pPr>
            <a:r>
              <a:rPr sz="1538" b="0" i="0">
                <a:solidFill>
                  <a:srgbClr val="17283A"/>
                </a:solidFill>
                <a:latin typeface="Arial"/>
                <a:ea typeface="Arial"/>
                <a:cs typeface="Arial"/>
              </a:rPr>
              <a:t>Use standard digital-banking procedures. Do not ask for extra bureau data.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AEBF7A-A26B-405A-920D-8217A41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24050"/>
            <a:ext cx="1000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4D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6EE890-40B8-45C7-A4A7-EF6EC2D2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7C8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D892B5-7883-486B-B4CF-3B9DA215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Open one case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BAD1C5-7194-4E53-8CC9-7978D5AD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71700"/>
            <a:ext cx="6858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38" b="0" i="0">
                <a:solidFill>
                  <a:srgbClr val="17283A"/>
                </a:solidFill>
                <a:latin typeface="Arial"/>
                <a:ea typeface="Arial"/>
                <a:cs typeface="Arial"/>
              </a:defRPr>
            </a:pPr>
            <a:r>
              <a:rPr sz="1538" b="0" i="0">
                <a:solidFill>
                  <a:srgbClr val="17283A"/>
                </a:solidFill>
                <a:latin typeface="Arial"/>
                <a:ea typeface="Arial"/>
                <a:cs typeface="Arial"/>
              </a:rPr>
              <a:t>Capture timestamp, channel, device, exact message and affected feature.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87E198-2FED-496C-9E3B-D0CD0A7D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38450"/>
            <a:ext cx="1000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4D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E18A0A-1F7B-409C-85CF-86C62AD0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7C8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E268F7-015A-4748-9103-DCC34A4C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051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Check impact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D71EAE-0022-4095-B690-7B1187EC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86100"/>
            <a:ext cx="6858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38" b="0" i="0">
                <a:solidFill>
                  <a:srgbClr val="17283A"/>
                </a:solidFill>
                <a:latin typeface="Arial"/>
                <a:ea typeface="Arial"/>
                <a:cs typeface="Arial"/>
              </a:defRPr>
            </a:pPr>
            <a:r>
              <a:rPr sz="1538" b="0" i="0">
                <a:solidFill>
                  <a:srgbClr val="17283A"/>
                </a:solidFill>
                <a:latin typeface="Arial"/>
                <a:ea typeface="Arial"/>
                <a:cs typeface="Arial"/>
              </a:rPr>
              <a:t>Ask whether access is blocked and check the current known-issue notice.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464988-24CE-4849-AE59-12CD55AD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52850"/>
            <a:ext cx="1000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4D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E65700-94B4-4794-85DB-458B90308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7C8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D9FD76-94A2-4430-AFCE-D8FC23D0F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195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Choose one route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069BC7-E9CB-45F3-9388-FB77781C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00500"/>
            <a:ext cx="6858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38" b="0" i="0">
                <a:solidFill>
                  <a:srgbClr val="17283A"/>
                </a:solidFill>
                <a:latin typeface="Arial"/>
                <a:ea typeface="Arial"/>
                <a:cs typeface="Arial"/>
              </a:defRPr>
            </a:pPr>
            <a:r>
              <a:rPr sz="1538" b="0" i="0">
                <a:solidFill>
                  <a:srgbClr val="17283A"/>
                </a:solidFill>
                <a:latin typeface="Arial"/>
                <a:ea typeface="Arial"/>
                <a:cs typeface="Arial"/>
              </a:rPr>
              <a:t>Access, product question, credit data, or fraud, privacy and complaint.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0121F5-A09F-4641-A7AD-1C28A98E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0"/>
            <a:ext cx="1000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4DE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2E1B3A-70F3-4121-9727-F2C929E51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95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6149EE-B607-4BAC-8A73-47CD25BF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339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Set the next update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5B33E8-902C-437D-BEC6-F454010AC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914900"/>
            <a:ext cx="6858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38" b="0" i="0">
                <a:solidFill>
                  <a:srgbClr val="17283A"/>
                </a:solidFill>
                <a:latin typeface="Arial"/>
                <a:ea typeface="Arial"/>
                <a:cs typeface="Arial"/>
              </a:defRPr>
            </a:pPr>
            <a:r>
              <a:rPr sz="1538" b="0" i="0">
                <a:solidFill>
                  <a:srgbClr val="17283A"/>
                </a:solidFill>
                <a:latin typeface="Arial"/>
                <a:ea typeface="Arial"/>
                <a:cs typeface="Arial"/>
              </a:rPr>
              <a:t>Name the owner, time and approved customer action before ending contact.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A1D449-0DE5-465A-9B51-DBA10E6A1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67400"/>
            <a:ext cx="1076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E8E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869B7C-3165-4502-B140-800F1A82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67400"/>
            <a:ext cx="666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3B3B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6A2881-3473-4D7D-8B4E-14D5B47C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6265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13" b="1" i="0">
                <a:solidFill>
                  <a:srgbClr val="B43B3B"/>
                </a:solidFill>
                <a:latin typeface="Arial"/>
                <a:ea typeface="Arial"/>
                <a:cs typeface="Arial"/>
              </a:defRPr>
            </a:pPr>
            <a:r>
              <a:rPr sz="1013" b="1" i="0">
                <a:solidFill>
                  <a:srgbClr val="B43B3B"/>
                </a:solidFill>
                <a:latin typeface="Arial"/>
                <a:ea typeface="Arial"/>
                <a:cs typeface="Arial"/>
              </a:rPr>
              <a:t>STOP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EE0B9B-17A1-455E-8B91-CBCF36E8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934075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7504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88" b="0" i="0">
                <a:solidFill>
                  <a:srgbClr val="17283A"/>
                </a:solidFill>
                <a:latin typeface="Arial"/>
                <a:ea typeface="Arial"/>
                <a:cs typeface="Arial"/>
              </a:defRPr>
            </a:pPr>
            <a:r>
              <a:rPr sz="1388" b="0" i="0">
                <a:solidFill>
                  <a:srgbClr val="17283A"/>
                </a:solidFill>
                <a:latin typeface="Arial"/>
                <a:ea typeface="Arial"/>
                <a:cs typeface="Arial"/>
              </a:rPr>
              <a:t>Do not request a full Social Security number, full credit report, bureau authentication answers or unrestricted screenshots through ordinary case notes or email.</a:t>
            </a:r>
          </a:p>
        </p:txBody>
      </p:sp>
    </p:spTree>
    <p:extLst>
      <p:ext uri="{BB962C8B-B14F-4D97-AF65-F5344CB8AC3E}">
        <p14:creationId xmlns:p14="http://schemas.microsoft.com/office/powerpoint/2010/main" val="12419636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34D5B55-77F3-4A14-8BFA-FB89569E7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C8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11BBFB-3454-4889-8245-7D209FC1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Routing at a glance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E6E3F7-8927-4F9B-9E91-A810F854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1" i="0">
                <a:solidFill>
                  <a:srgbClr val="0A7C8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A7C86"/>
                </a:solidFill>
                <a:latin typeface="Arial"/>
                <a:ea typeface="Arial"/>
                <a:cs typeface="Arial"/>
              </a:rPr>
              <a:t>FRONTLINE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FF554D-D625-4FFE-A0AC-91078C34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620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4D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50A289-A2A2-4F61-BA34-714254422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885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38" b="0" i="0">
                <a:solidFill>
                  <a:srgbClr val="526778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526778"/>
                </a:solidFill>
                <a:latin typeface="Arial"/>
                <a:ea typeface="Arial"/>
                <a:cs typeface="Arial"/>
              </a:rPr>
              <a:t>INTERNAL USE  |  Confirm local policy, contacts and contractual service levels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E912E6-3B69-4A6F-A3C3-1BAD948A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38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75" b="1" i="0">
                <a:solidFill>
                  <a:srgbClr val="0A7C8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A7C8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F82120-4BD6-4AC5-982E-4525A52A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C8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242375-4F73-47F3-8531-1E43D5652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14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0A7C8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A7C86"/>
                </a:solidFill>
                <a:latin typeface="Arial"/>
                <a:ea typeface="Arial"/>
                <a:cs typeface="Arial"/>
              </a:rPr>
              <a:t>ACCESS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C3D297-F31F-42F7-BA4A-BE0B059C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62175"/>
            <a:ext cx="2476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571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Tile missing, enrollment fails, blank page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8A975F-6272-4CF6-B988-5353E3EA2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67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75" b="1" i="0">
                <a:solidFill>
                  <a:srgbClr val="52677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26778"/>
                </a:solidFill>
                <a:latin typeface="Arial"/>
                <a:ea typeface="Arial"/>
                <a:cs typeface="Arial"/>
              </a:rPr>
              <a:t>FIRST ACTION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E1C160-0A9D-4419-8B4C-D4C0A1BB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81425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571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0" i="0">
                <a:solidFill>
                  <a:srgbClr val="17283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283A"/>
                </a:solidFill>
                <a:latin typeface="Arial"/>
                <a:ea typeface="Arial"/>
                <a:cs typeface="Arial"/>
              </a:rPr>
              <a:t>Approved check once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7B2F55-1DA7-4543-90BA-1BAB6783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291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75" b="1" i="0">
                <a:solidFill>
                  <a:srgbClr val="52677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26778"/>
                </a:solidFill>
                <a:latin typeface="Arial"/>
                <a:ea typeface="Arial"/>
                <a:cs typeface="Arial"/>
              </a:rPr>
              <a:t>ROUTE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724D49-7CA0-4BDE-ADDA-3D228F9C0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43475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571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0A7C8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A7C86"/>
                </a:solidFill>
                <a:latin typeface="Arial"/>
                <a:ea typeface="Arial"/>
                <a:cs typeface="Arial"/>
              </a:rPr>
              <a:t>Digital / Technology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847AB9-03CA-4417-92B6-8D92C683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352550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B7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A5E07D-D0C5-4A91-B6FA-05B05FEFA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714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D5B7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D5B7A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9B9A66-BC57-43CC-98ED-B4FB320BB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162175"/>
            <a:ext cx="2476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571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Navigation, feature or general score question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CABD22-4319-445F-932C-2BD7EF285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467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75" b="1" i="0">
                <a:solidFill>
                  <a:srgbClr val="52677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26778"/>
                </a:solidFill>
                <a:latin typeface="Arial"/>
                <a:ea typeface="Arial"/>
                <a:cs typeface="Arial"/>
              </a:rPr>
              <a:t>FIRST ACTION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048A17-D4B2-40A6-BFBB-45AFECC0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781425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571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0" i="0">
                <a:solidFill>
                  <a:srgbClr val="17283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283A"/>
                </a:solidFill>
                <a:latin typeface="Arial"/>
                <a:ea typeface="Arial"/>
                <a:cs typeface="Arial"/>
              </a:rPr>
              <a:t>Use approved answer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8DAE92-614B-48AC-94B1-247BEE17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6291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75" b="1" i="0">
                <a:solidFill>
                  <a:srgbClr val="52677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26778"/>
                </a:solidFill>
                <a:latin typeface="Arial"/>
                <a:ea typeface="Arial"/>
                <a:cs typeface="Arial"/>
              </a:rPr>
              <a:t>ROUTE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7A126E-6A07-42C3-B794-A4E64AAD2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943475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571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2D5B7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D5B7A"/>
                </a:solidFill>
                <a:latin typeface="Arial"/>
                <a:ea typeface="Arial"/>
                <a:cs typeface="Arial"/>
              </a:rPr>
              <a:t>L1 or product SME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6996D6-8C24-4AC5-A3B3-40A6AC5E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52550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5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68F7A4-05DA-4C05-BCBB-233988E30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14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23B5D"/>
                </a:solidFill>
                <a:latin typeface="Arial"/>
                <a:ea typeface="Arial"/>
                <a:cs typeface="Arial"/>
              </a:rPr>
              <a:t>CREDIT DATA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0AF3D6-8F92-4FC5-B958-B02EAC59D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62175"/>
            <a:ext cx="2476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571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Score difference, inaccurate account or inquiry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57C2D1-A8C2-435C-A83F-7FF63E93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67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75" b="1" i="0">
                <a:solidFill>
                  <a:srgbClr val="52677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26778"/>
                </a:solidFill>
                <a:latin typeface="Arial"/>
                <a:ea typeface="Arial"/>
                <a:cs typeface="Arial"/>
              </a:rPr>
              <a:t>FIRST 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679D45-B5DF-4332-9B68-C15FA79B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81425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571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0" i="0">
                <a:solidFill>
                  <a:srgbClr val="17283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283A"/>
                </a:solidFill>
                <a:latin typeface="Arial"/>
                <a:ea typeface="Arial"/>
                <a:cs typeface="Arial"/>
              </a:rPr>
              <a:t>Explain service boundary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43F630-75C5-4B7A-AD9C-CDEE583A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6291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75" b="1" i="0">
                <a:solidFill>
                  <a:srgbClr val="52677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26778"/>
                </a:solidFill>
                <a:latin typeface="Arial"/>
                <a:ea typeface="Arial"/>
                <a:cs typeface="Arial"/>
              </a:rPr>
              <a:t>ROUTE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95C2FD-412A-4D06-A0D8-1C07D2C6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943475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571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23B5D"/>
                </a:solidFill>
                <a:latin typeface="Arial"/>
                <a:ea typeface="Arial"/>
                <a:cs typeface="Arial"/>
              </a:rPr>
              <a:t>TransUnion dispute path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16D7A4-0730-410B-8C19-E1D3F5370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352550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3B3B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BC4B55-1D1D-47F5-B97A-6AE1F9B03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714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B43B3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43B3B"/>
                </a:solidFill>
                <a:latin typeface="Arial"/>
                <a:ea typeface="Arial"/>
                <a:cs typeface="Arial"/>
              </a:rPr>
              <a:t>RISK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9098EE-0291-45A1-B5FC-ABB9DE620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162175"/>
            <a:ext cx="2476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571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Fraud, privacy concern, complaint or harm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083A18-190C-43ED-96AC-97A2BDD94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467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75" b="1" i="0">
                <a:solidFill>
                  <a:srgbClr val="52677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26778"/>
                </a:solidFill>
                <a:latin typeface="Arial"/>
                <a:ea typeface="Arial"/>
                <a:cs typeface="Arial"/>
              </a:rPr>
              <a:t>FIRST ACTION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7C053D-4C33-490C-B616-0B8C7001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781425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571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0" i="0">
                <a:solidFill>
                  <a:srgbClr val="17283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283A"/>
                </a:solidFill>
                <a:latin typeface="Arial"/>
                <a:ea typeface="Arial"/>
                <a:cs typeface="Arial"/>
              </a:rPr>
              <a:t>Stop routine handling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32E1ADA-3392-4A7A-90B8-79C0D5CD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291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75" b="1" i="0">
                <a:solidFill>
                  <a:srgbClr val="52677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26778"/>
                </a:solidFill>
                <a:latin typeface="Arial"/>
                <a:ea typeface="Arial"/>
                <a:cs typeface="Arial"/>
              </a:rPr>
              <a:t>ROUTE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A925B4-5CEB-4DEC-92CA-54AD7B4DC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943475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571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B43B3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B43B3B"/>
                </a:solidFill>
                <a:latin typeface="Arial"/>
                <a:ea typeface="Arial"/>
                <a:cs typeface="Arial"/>
              </a:rPr>
              <a:t>Specialist immediately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1317971-8F1B-4CBC-ACAC-1E3761E4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57875"/>
            <a:ext cx="108013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7F0DF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5D9CA07-4FE7-4AF4-AEE7-D4EF84A4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57875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52E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F2241F4-8B53-43DC-A987-90CC3920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53125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13" b="1" i="0">
                <a:solidFill>
                  <a:srgbClr val="C9952E"/>
                </a:solidFill>
                <a:latin typeface="Arial"/>
                <a:ea typeface="Arial"/>
                <a:cs typeface="Arial"/>
              </a:defRPr>
            </a:pPr>
            <a:r>
              <a:rPr sz="1013" b="1" i="0">
                <a:solidFill>
                  <a:srgbClr val="C9952E"/>
                </a:solidFill>
                <a:latin typeface="Arial"/>
                <a:ea typeface="Arial"/>
                <a:cs typeface="Arial"/>
              </a:rPr>
              <a:t>RULE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86563DD-0A69-42EF-8B2D-5C2F2EB4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924550"/>
            <a:ext cx="899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88" b="0" i="0">
                <a:solidFill>
                  <a:srgbClr val="17283A"/>
                </a:solidFill>
                <a:latin typeface="Arial"/>
                <a:ea typeface="Arial"/>
                <a:cs typeface="Arial"/>
              </a:defRPr>
            </a:pPr>
            <a:r>
              <a:rPr sz="1388" b="0" i="0">
                <a:solidFill>
                  <a:srgbClr val="17283A"/>
                </a:solidFill>
                <a:latin typeface="Arial"/>
                <a:ea typeface="Arial"/>
                <a:cs typeface="Arial"/>
              </a:rPr>
              <a:t>When more than one route applies, use the highest-risk route and keep one customer case owner.</a:t>
            </a:r>
          </a:p>
        </p:txBody>
      </p:sp>
    </p:spTree>
    <p:extLst>
      <p:ext uri="{BB962C8B-B14F-4D97-AF65-F5344CB8AC3E}">
        <p14:creationId xmlns:p14="http://schemas.microsoft.com/office/powerpoint/2010/main" val="16246267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949525-386B-4C47-B5D9-C32D0BF15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C8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5FA8E9-081E-4B67-9A38-8B981E48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Common scenarios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DF91B2-D9AA-4F95-A368-8554A2C5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1" i="0">
                <a:solidFill>
                  <a:srgbClr val="0A7C8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A7C86"/>
                </a:solidFill>
                <a:latin typeface="Arial"/>
                <a:ea typeface="Arial"/>
                <a:cs typeface="Arial"/>
              </a:rPr>
              <a:t>FRONTLINE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6682AD-D075-4627-8390-E1405028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620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4D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3D3F34-2F65-41B9-BBD9-174FFC63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885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38" b="0" i="0">
                <a:solidFill>
                  <a:srgbClr val="526778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526778"/>
                </a:solidFill>
                <a:latin typeface="Arial"/>
                <a:ea typeface="Arial"/>
                <a:cs typeface="Arial"/>
              </a:rPr>
              <a:t>INTERNAL USE  |  Confirm local policy, contacts and contractual service levels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47EAC7-218A-4239-AC09-B12E63951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38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75" b="1" i="0">
                <a:solidFill>
                  <a:srgbClr val="0A7C8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A7C8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90550" y="1257300"/>
          <a:ext xmlns:a="http://schemas.openxmlformats.org/drawingml/2006/main" cx="11010900" cy="4619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5905500"/>
                <a:gridCol w="2105025"/>
              </a:tblGrid>
              <a:tr h="457200">
                <a:tc>
                  <a:txBody>
                    <a:bodyPr lIns="66675" tIns="47625" rIns="66675" bIns="47625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Customer says</a:t>
                      </a:r>
                    </a:p>
                  </a:txBody>
                  <a:tcPr marL="91440" marR="91440" marT="45720" marB="45720" anchor="ctr">
                    <a:solidFill>
                      <a:srgbClr val="123B5D"/>
                    </a:solidFill>
                  </a:tcPr>
                </a:tc>
                <a:tc>
                  <a:txBody>
                    <a:bodyPr lIns="66675" tIns="47625" rIns="66675" bIns="47625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to say or do</a:t>
                      </a:r>
                    </a:p>
                  </a:txBody>
                  <a:tcPr marL="91440" marR="91440" marT="45720" marB="45720" anchor="ctr">
                    <a:solidFill>
                      <a:srgbClr val="123B5D"/>
                    </a:solidFill>
                  </a:tcPr>
                </a:tc>
                <a:tc>
                  <a:txBody>
                    <a:bodyPr lIns="66675" tIns="47625" rIns="66675" bIns="47625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Route</a:t>
                      </a:r>
                    </a:p>
                  </a:txBody>
                  <a:tcPr marL="91440" marR="91440" marT="45720" marB="45720" anchor="ctr">
                    <a:solidFill>
                      <a:srgbClr val="123B5D"/>
                    </a:solidFill>
                  </a:tcPr>
                </a:tc>
              </a:tr>
              <a:tr h="685800">
                <a:tc>
                  <a:txBody>
                    <a:bodyPr lIns="66675" tIns="47625" rIns="66675" bIns="47625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388" b="1">
                          <a:solidFill>
                            <a:srgbClr val="17283A"/>
                          </a:solidFill>
                          <a:latin typeface="Arial"/>
                          <a:ea typeface="Arial"/>
                          <a:cs typeface="Arial"/>
                        </a:rPr>
                        <a:t>My score differs from another score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47625" rIns="66675" bIns="47625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388" b="0">
                          <a:solidFill>
                            <a:srgbClr val="17283A"/>
                          </a:solidFill>
                          <a:latin typeface="Arial"/>
                          <a:ea typeface="Arial"/>
                          <a:cs typeface="Arial"/>
                        </a:rPr>
                        <a:t>Different bureaus, models or dates can produce different scores.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47625" rIns="66675" bIns="47625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388" b="0">
                          <a:solidFill>
                            <a:srgbClr val="17283A"/>
                          </a:solidFill>
                          <a:latin typeface="Arial"/>
                          <a:ea typeface="Arial"/>
                          <a:cs typeface="Arial"/>
                        </a:rPr>
                        <a:t>L1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66675" tIns="47625" rIns="66675" bIns="47625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388" b="1">
                          <a:solidFill>
                            <a:srgbClr val="17283A"/>
                          </a:solidFill>
                          <a:latin typeface="Arial"/>
                          <a:ea typeface="Arial"/>
                          <a:cs typeface="Arial"/>
                        </a:rPr>
                        <a:t>My score or report is wrong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66675" tIns="47625" rIns="66675" bIns="47625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388" b="0">
                          <a:solidFill>
                            <a:srgbClr val="17283A"/>
                          </a:solidFill>
                          <a:latin typeface="Arial"/>
                          <a:ea typeface="Arial"/>
                          <a:cs typeface="Arial"/>
                        </a:rPr>
                        <a:t>A score cannot be disputed. Inaccurate report data can be disputed.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66675" tIns="47625" rIns="66675" bIns="47625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388" b="0">
                          <a:solidFill>
                            <a:srgbClr val="17283A"/>
                          </a:solidFill>
                          <a:latin typeface="Arial"/>
                          <a:ea typeface="Arial"/>
                          <a:cs typeface="Arial"/>
                        </a:rPr>
                        <a:t>TransUnion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</a:tr>
              <a:tr h="685800">
                <a:tc>
                  <a:txBody>
                    <a:bodyPr lIns="66675" tIns="47625" rIns="66675" bIns="47625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388" b="1">
                          <a:solidFill>
                            <a:srgbClr val="17283A"/>
                          </a:solidFill>
                          <a:latin typeface="Arial"/>
                          <a:ea typeface="Arial"/>
                          <a:cs typeface="Arial"/>
                        </a:rPr>
                        <a:t>I do not recognize an account or inquiry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47625" rIns="66675" bIns="47625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388" b="0">
                          <a:solidFill>
                            <a:srgbClr val="17283A"/>
                          </a:solidFill>
                          <a:latin typeface="Arial"/>
                          <a:ea typeface="Arial"/>
                          <a:cs typeface="Arial"/>
                        </a:rPr>
                        <a:t>Follow the bank’s fraud procedure. Offer approved bureau resources.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47625" rIns="66675" bIns="47625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388" b="0">
                          <a:solidFill>
                            <a:srgbClr val="17283A"/>
                          </a:solidFill>
                          <a:latin typeface="Arial"/>
                          <a:ea typeface="Arial"/>
                          <a:cs typeface="Arial"/>
                        </a:rPr>
                        <a:t>Fraud now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66675" tIns="47625" rIns="66675" bIns="47625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388" b="1">
                          <a:solidFill>
                            <a:srgbClr val="17283A"/>
                          </a:solidFill>
                          <a:latin typeface="Arial"/>
                          <a:ea typeface="Arial"/>
                          <a:cs typeface="Arial"/>
                        </a:rPr>
                        <a:t>The tile or page will not work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66675" tIns="47625" rIns="66675" bIns="47625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388" b="0">
                          <a:solidFill>
                            <a:srgbClr val="17283A"/>
                          </a:solidFill>
                          <a:latin typeface="Arial"/>
                          <a:ea typeface="Arial"/>
                          <a:cs typeface="Arial"/>
                        </a:rPr>
                        <a:t>Capture the error and device. Check known issues. Retry once.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66675" tIns="47625" rIns="66675" bIns="47625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388" b="0">
                          <a:solidFill>
                            <a:srgbClr val="17283A"/>
                          </a:solidFill>
                          <a:latin typeface="Arial"/>
                          <a:ea typeface="Arial"/>
                          <a:cs typeface="Arial"/>
                        </a:rPr>
                        <a:t>Digital / Tech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</a:tr>
              <a:tr h="685800">
                <a:tc>
                  <a:txBody>
                    <a:bodyPr lIns="66675" tIns="47625" rIns="66675" bIns="47625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388" b="1">
                          <a:solidFill>
                            <a:srgbClr val="17283A"/>
                          </a:solidFill>
                          <a:latin typeface="Arial"/>
                          <a:ea typeface="Arial"/>
                          <a:cs typeface="Arial"/>
                        </a:rPr>
                        <a:t>I received an alert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47625" rIns="66675" bIns="47625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388" b="0">
                          <a:solidFill>
                            <a:srgbClr val="17283A"/>
                          </a:solidFill>
                          <a:latin typeface="Arial"/>
                          <a:ea typeface="Arial"/>
                          <a:cs typeface="Arial"/>
                        </a:rPr>
                        <a:t>The alert reports a detected credit-file change. It does not confirm fraud.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47625" rIns="66675" bIns="47625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388" b="0">
                          <a:solidFill>
                            <a:srgbClr val="17283A"/>
                          </a:solidFill>
                          <a:latin typeface="Arial"/>
                          <a:ea typeface="Arial"/>
                          <a:cs typeface="Arial"/>
                        </a:rPr>
                        <a:t>L1, Fraud if unfamiliar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66675" tIns="47625" rIns="66675" bIns="47625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388" b="1">
                          <a:solidFill>
                            <a:srgbClr val="17283A"/>
                          </a:solidFill>
                          <a:latin typeface="Arial"/>
                          <a:ea typeface="Arial"/>
                          <a:cs typeface="Arial"/>
                        </a:rPr>
                        <a:t>Why did my score not update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66675" tIns="47625" rIns="66675" bIns="47625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388" b="0">
                          <a:solidFill>
                            <a:srgbClr val="17283A"/>
                          </a:solidFill>
                          <a:latin typeface="Arial"/>
                          <a:ea typeface="Arial"/>
                          <a:cs typeface="Arial"/>
                        </a:rPr>
                        <a:t>Check the last-updated date. Manual refresh is available up to once every 24 hours.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66675" tIns="47625" rIns="66675" bIns="47625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388" b="0">
                          <a:solidFill>
                            <a:srgbClr val="17283A"/>
                          </a:solidFill>
                          <a:latin typeface="Arial"/>
                          <a:ea typeface="Arial"/>
                          <a:cs typeface="Arial"/>
                        </a:rPr>
                        <a:t>L1, then SME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DF9F27-ABDE-4F74-8342-C749C435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48375"/>
            <a:ext cx="11010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88" b="1" i="0">
                <a:solidFill>
                  <a:srgbClr val="C66A11"/>
                </a:solidFill>
                <a:latin typeface="Arial"/>
                <a:ea typeface="Arial"/>
                <a:cs typeface="Arial"/>
              </a:defRPr>
            </a:pPr>
            <a:r>
              <a:rPr sz="1388" b="1" i="0">
                <a:solidFill>
                  <a:srgbClr val="C66A11"/>
                </a:solidFill>
                <a:latin typeface="Arial"/>
                <a:ea typeface="Arial"/>
                <a:cs typeface="Arial"/>
              </a:rPr>
              <a:t>Do not promise an automatic refresh schedule until the institution confirms its configured cadence.</a:t>
            </a:r>
          </a:p>
        </p:txBody>
      </p:sp>
    </p:spTree>
    <p:extLst>
      <p:ext uri="{BB962C8B-B14F-4D97-AF65-F5344CB8AC3E}">
        <p14:creationId xmlns:p14="http://schemas.microsoft.com/office/powerpoint/2010/main" val="14034849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E03962-9DBC-46DD-AC1D-7EEE8D71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C8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EB571C-5AC0-49F4-A9F8-7E3890D38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Priority and escalation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3E44AF-FEBC-47C6-9B28-295C321C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1" i="0">
                <a:solidFill>
                  <a:srgbClr val="0A7C8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A7C86"/>
                </a:solidFill>
                <a:latin typeface="Arial"/>
                <a:ea typeface="Arial"/>
                <a:cs typeface="Arial"/>
              </a:rPr>
              <a:t>FRONTLINE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939A0E-911D-4BC7-9D41-8D1C0A8B6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620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4D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3BA5C1-95CA-402B-B966-02BCB82D4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885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38" b="0" i="0">
                <a:solidFill>
                  <a:srgbClr val="526778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526778"/>
                </a:solidFill>
                <a:latin typeface="Arial"/>
                <a:ea typeface="Arial"/>
                <a:cs typeface="Arial"/>
              </a:rPr>
              <a:t>INTERNAL USE  |  Confirm local policy, contacts and contractual service levels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C0E0C5-972E-43E2-B930-B682712C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38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75" b="1" i="0">
                <a:solidFill>
                  <a:srgbClr val="0A7C8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A7C8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590550" y="1276350"/>
          <a:ext xmlns:a="http://schemas.openxmlformats.org/drawingml/2006/main" cx="11010900" cy="3276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90625"/>
                <a:gridCol w="4857750"/>
                <a:gridCol w="3190875"/>
                <a:gridCol w="1771650"/>
              </a:tblGrid>
              <a:tr h="457200">
                <a:tc>
                  <a:txBody>
                    <a:bodyPr lIns="66675" tIns="47625" rIns="66675" bIns="47625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Priority</a:t>
                      </a:r>
                    </a:p>
                  </a:txBody>
                  <a:tcPr marL="91440" marR="91440" marT="45720" marB="45720" anchor="ctr">
                    <a:solidFill>
                      <a:srgbClr val="123B5D"/>
                    </a:solidFill>
                  </a:tcPr>
                </a:tc>
                <a:tc>
                  <a:txBody>
                    <a:bodyPr lIns="66675" tIns="47625" rIns="66675" bIns="47625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Use when</a:t>
                      </a:r>
                    </a:p>
                  </a:txBody>
                  <a:tcPr marL="91440" marR="91440" marT="45720" marB="45720" anchor="ctr">
                    <a:solidFill>
                      <a:srgbClr val="123B5D"/>
                    </a:solidFill>
                  </a:tcPr>
                </a:tc>
                <a:tc>
                  <a:txBody>
                    <a:bodyPr lIns="66675" tIns="47625" rIns="66675" bIns="47625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Act now</a:t>
                      </a:r>
                    </a:p>
                  </a:txBody>
                  <a:tcPr marL="91440" marR="91440" marT="45720" marB="45720" anchor="ctr">
                    <a:solidFill>
                      <a:srgbClr val="123B5D"/>
                    </a:solidFill>
                  </a:tcPr>
                </a:tc>
                <a:tc>
                  <a:txBody>
                    <a:bodyPr lIns="66675" tIns="47625" rIns="66675" bIns="47625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Update target</a:t>
                      </a:r>
                    </a:p>
                  </a:txBody>
                  <a:tcPr marL="91440" marR="91440" marT="45720" marB="45720" anchor="ctr">
                    <a:solidFill>
                      <a:srgbClr val="123B5D"/>
                    </a:solidFill>
                  </a:tcPr>
                </a:tc>
              </a:tr>
              <a:tr h="704850">
                <a:tc>
                  <a:txBody>
                    <a:bodyPr lIns="66675" tIns="47625" rIns="66675" bIns="47625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425" b="1">
                          <a:solidFill>
                            <a:srgbClr val="B43B3B"/>
                          </a:solidFill>
                          <a:latin typeface="Arial"/>
                          <a:ea typeface="Arial"/>
                          <a:cs typeface="Arial"/>
                        </a:rPr>
                        <a:t>P1</a:t>
                      </a:r>
                    </a:p>
                  </a:txBody>
                  <a:tcPr marL="91440" marR="91440" marT="45720" marB="45720" anchor="ctr">
                    <a:solidFill>
                      <a:srgbClr val="F8E8E8"/>
                    </a:solidFill>
                  </a:tcPr>
                </a:tc>
                <a:tc>
                  <a:txBody>
                    <a:bodyPr lIns="66675" tIns="47625" rIns="66675" bIns="47625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425" b="0">
                          <a:solidFill>
                            <a:srgbClr val="17283A"/>
                          </a:solidFill>
                          <a:latin typeface="Arial"/>
                          <a:ea typeface="Arial"/>
                          <a:cs typeface="Arial"/>
                        </a:rPr>
                        <a:t>Widespread outage, security or privacy event, credible material harm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47625" rIns="66675" bIns="47625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425" b="0">
                          <a:solidFill>
                            <a:srgbClr val="17283A"/>
                          </a:solidFill>
                          <a:latin typeface="Arial"/>
                          <a:ea typeface="Arial"/>
                          <a:cs typeface="Arial"/>
                        </a:rPr>
                        <a:t>Incident commander, Risk and vendor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47625" rIns="66675" bIns="47625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425" b="0">
                          <a:solidFill>
                            <a:srgbClr val="17283A"/>
                          </a:solidFill>
                          <a:latin typeface="Arial"/>
                          <a:ea typeface="Arial"/>
                          <a:cs typeface="Arial"/>
                        </a:rPr>
                        <a:t>[30 MIN]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 lIns="66675" tIns="47625" rIns="66675" bIns="47625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425" b="1">
                          <a:solidFill>
                            <a:srgbClr val="C66A11"/>
                          </a:solidFill>
                          <a:latin typeface="Arial"/>
                          <a:ea typeface="Arial"/>
                          <a:cs typeface="Arial"/>
                        </a:rPr>
                        <a:t>P2</a:t>
                      </a:r>
                    </a:p>
                  </a:txBody>
                  <a:tcPr marL="91440" marR="91440" marT="45720" marB="45720" anchor="ctr">
                    <a:solidFill>
                      <a:srgbClr val="FFF1E5"/>
                    </a:solidFill>
                  </a:tcPr>
                </a:tc>
                <a:tc>
                  <a:txBody>
                    <a:bodyPr lIns="66675" tIns="47625" rIns="66675" bIns="47625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425" b="0">
                          <a:solidFill>
                            <a:srgbClr val="17283A"/>
                          </a:solidFill>
                          <a:latin typeface="Arial"/>
                          <a:ea typeface="Arial"/>
                          <a:cs typeface="Arial"/>
                        </a:rPr>
                        <a:t>Multiple customers blocked or serious degradation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66675" tIns="47625" rIns="66675" bIns="47625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425" b="0">
                          <a:solidFill>
                            <a:srgbClr val="17283A"/>
                          </a:solidFill>
                          <a:latin typeface="Arial"/>
                          <a:ea typeface="Arial"/>
                          <a:cs typeface="Arial"/>
                        </a:rPr>
                        <a:t>Digital lead and Technology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66675" tIns="47625" rIns="66675" bIns="47625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425" b="0">
                          <a:solidFill>
                            <a:srgbClr val="17283A"/>
                          </a:solidFill>
                          <a:latin typeface="Arial"/>
                          <a:ea typeface="Arial"/>
                          <a:cs typeface="Arial"/>
                        </a:rPr>
                        <a:t>[60 MIN]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</a:tr>
              <a:tr h="704850">
                <a:tc>
                  <a:txBody>
                    <a:bodyPr lIns="66675" tIns="47625" rIns="66675" bIns="47625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425" b="1">
                          <a:solidFill>
                            <a:srgbClr val="17283A"/>
                          </a:solidFill>
                          <a:latin typeface="Arial"/>
                          <a:ea typeface="Arial"/>
                          <a:cs typeface="Arial"/>
                        </a:rPr>
                        <a:t>P3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47625" rIns="66675" bIns="47625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425" b="0">
                          <a:solidFill>
                            <a:srgbClr val="17283A"/>
                          </a:solidFill>
                          <a:latin typeface="Arial"/>
                          <a:ea typeface="Arial"/>
                          <a:cs typeface="Arial"/>
                        </a:rPr>
                        <a:t>Single-customer failure with no broad impact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47625" rIns="66675" bIns="47625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425" b="0">
                          <a:solidFill>
                            <a:srgbClr val="17283A"/>
                          </a:solidFill>
                          <a:latin typeface="Arial"/>
                          <a:ea typeface="Arial"/>
                          <a:cs typeface="Arial"/>
                        </a:rPr>
                        <a:t>L2 if approved checks fail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47625" rIns="66675" bIns="47625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425" b="0">
                          <a:solidFill>
                            <a:srgbClr val="17283A"/>
                          </a:solidFill>
                          <a:latin typeface="Arial"/>
                          <a:ea typeface="Arial"/>
                          <a:cs typeface="Arial"/>
                        </a:rPr>
                        <a:t>Daily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 lIns="66675" tIns="47625" rIns="66675" bIns="47625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425" b="1">
                          <a:solidFill>
                            <a:srgbClr val="17283A"/>
                          </a:solidFill>
                          <a:latin typeface="Arial"/>
                          <a:ea typeface="Arial"/>
                          <a:cs typeface="Arial"/>
                        </a:rPr>
                        <a:t>P4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66675" tIns="47625" rIns="66675" bIns="47625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425" b="0">
                          <a:solidFill>
                            <a:srgbClr val="17283A"/>
                          </a:solidFill>
                          <a:latin typeface="Arial"/>
                          <a:ea typeface="Arial"/>
                          <a:cs typeface="Arial"/>
                        </a:rPr>
                        <a:t>How-to, content correction or enhancement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66675" tIns="47625" rIns="66675" bIns="47625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425" b="0">
                          <a:solidFill>
                            <a:srgbClr val="17283A"/>
                          </a:solidFill>
                          <a:latin typeface="Arial"/>
                          <a:ea typeface="Arial"/>
                          <a:cs typeface="Arial"/>
                        </a:rPr>
                        <a:t>Knowledge owner or backlog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66675" tIns="47625" rIns="66675" bIns="47625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425" b="0">
                          <a:solidFill>
                            <a:srgbClr val="17283A"/>
                          </a:solidFill>
                          <a:latin typeface="Arial"/>
                          <a:ea typeface="Arial"/>
                          <a:cs typeface="Arial"/>
                        </a:rPr>
                        <a:t>At milestones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C970F4-A820-47B4-B825-2B5AE270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0"/>
            <a:ext cx="110109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5F3F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ED2B8E-F894-4D76-A81F-4699CDDD4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0"/>
            <a:ext cx="666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C8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7DE75C-8BED-4411-AEC8-BB12F789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0A7C8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A7C86"/>
                </a:solidFill>
                <a:latin typeface="Arial"/>
                <a:ea typeface="Arial"/>
                <a:cs typeface="Arial"/>
              </a:rPr>
              <a:t>P1 OR P2 PACKAGE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24199C-BA47-437F-B5F9-38F9229F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67325"/>
            <a:ext cx="1064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93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 i="0">
                <a:solidFill>
                  <a:srgbClr val="17283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7283A"/>
                </a:solidFill>
                <a:latin typeface="Arial"/>
                <a:ea typeface="Arial"/>
                <a:cs typeface="Arial"/>
              </a:rPr>
              <a:t>Case ID, first-known time, customer impact, affected channels, reproduction steps, sanitized evidence, workaround and internal owner.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600E54-7585-4300-A795-CF2FDDDE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15025"/>
            <a:ext cx="11010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1" i="0">
                <a:solidFill>
                  <a:srgbClr val="B43B3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B43B3B"/>
                </a:solidFill>
                <a:latin typeface="Arial"/>
                <a:ea typeface="Arial"/>
                <a:cs typeface="Arial"/>
              </a:rPr>
              <a:t>Targets in brackets require approval. Customer impact determines priority, not the number of tickets alone.</a:t>
            </a:r>
          </a:p>
        </p:txBody>
      </p:sp>
    </p:spTree>
    <p:extLst>
      <p:ext uri="{BB962C8B-B14F-4D97-AF65-F5344CB8AC3E}">
        <p14:creationId xmlns:p14="http://schemas.microsoft.com/office/powerpoint/2010/main" val="3773330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6A25EE-19D8-4B45-897F-50D03BFE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C8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99A34D-1A39-4232-8A0E-5FCA7A08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Approved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77F3D6-3AD3-49C6-B3B1-3041C1DC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1" i="0">
                <a:solidFill>
                  <a:srgbClr val="0A7C8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A7C86"/>
                </a:solidFill>
                <a:latin typeface="Arial"/>
                <a:ea typeface="Arial"/>
                <a:cs typeface="Arial"/>
              </a:rPr>
              <a:t>FRONTLINE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48EDAD-36AC-4268-A1E0-80F9C781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620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4D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D5A2FD-C4E2-4CCF-911D-EF670357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885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38" b="0" i="0">
                <a:solidFill>
                  <a:srgbClr val="526778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526778"/>
                </a:solidFill>
                <a:latin typeface="Arial"/>
                <a:ea typeface="Arial"/>
                <a:cs typeface="Arial"/>
              </a:rPr>
              <a:t>INTERNAL USE  |  Confirm local policy, contacts and contractual service levels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9DFE78-AECA-4D80-9214-29B318F6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38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75" b="1" i="0">
                <a:solidFill>
                  <a:srgbClr val="0A7C8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A7C8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2A432B-3354-4ED9-A582-429CA324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144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 i="0">
                <a:solidFill>
                  <a:srgbClr val="0A7C8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A7C86"/>
                </a:solidFill>
                <a:latin typeface="Arial"/>
                <a:ea typeface="Arial"/>
                <a:cs typeface="Arial"/>
              </a:rPr>
              <a:t>Does checking hurt my score?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514273-6F6C-4CB5-A752-14DC3231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7165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17283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283A"/>
                </a:solidFill>
                <a:latin typeface="Arial"/>
                <a:ea typeface="Arial"/>
                <a:cs typeface="Arial"/>
              </a:rPr>
              <a:t>No. Checking Credit Sense uses a soft inquiry and does not lower the score.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6FF9B5-DF4E-4398-9828-6599E70F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81275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4D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5D1B40-6204-44E8-A4ED-C3C6AB87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3144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 i="0">
                <a:solidFill>
                  <a:srgbClr val="0A7C8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A7C86"/>
                </a:solidFill>
                <a:latin typeface="Arial"/>
                <a:ea typeface="Arial"/>
                <a:cs typeface="Arial"/>
              </a:rPr>
              <a:t>What score is this?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FA4A8C-3E57-4E41-AADE-4852717EC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7165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17283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283A"/>
                </a:solidFill>
                <a:latin typeface="Arial"/>
                <a:ea typeface="Arial"/>
                <a:cs typeface="Arial"/>
              </a:rPr>
              <a:t>It uses TransUnion data and VantageScore 3.0. A lender may use another score.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983470-5FA5-438B-9558-64BC9376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81275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4D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9927AA-0AD5-4618-9A0B-3CEFB2E9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5272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 i="0">
                <a:solidFill>
                  <a:srgbClr val="0A7C8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A7C86"/>
                </a:solidFill>
                <a:latin typeface="Arial"/>
                <a:ea typeface="Arial"/>
                <a:cs typeface="Arial"/>
              </a:rPr>
              <a:t>How often can I refresh?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D39A47-8287-45A8-B2E3-7787A4C7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9925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17283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283A"/>
                </a:solidFill>
                <a:latin typeface="Arial"/>
                <a:ea typeface="Arial"/>
                <a:cs typeface="Arial"/>
              </a:rPr>
              <a:t>You can manually refresh up to once every 24 hours. Check the last-updated date.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903B9A-7020-4078-88B1-449747DC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195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4D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AE0A85-25F9-461A-9BF3-E0A2BE27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5272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 i="0">
                <a:solidFill>
                  <a:srgbClr val="0A7C8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A7C86"/>
                </a:solidFill>
                <a:latin typeface="Arial"/>
                <a:ea typeface="Arial"/>
                <a:cs typeface="Arial"/>
              </a:rPr>
              <a:t>Can the bank fix my report?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CCD19B-9D80-464B-99AF-99A32D66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09925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17283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283A"/>
                </a:solidFill>
                <a:latin typeface="Arial"/>
                <a:ea typeface="Arial"/>
                <a:cs typeface="Arial"/>
              </a:rPr>
              <a:t>The bank cannot change bureau data. Use the in-product Dispute path or TransUnion.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35FCFE-5874-4E3C-9AD8-9456C6EF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195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4D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032021-D787-4B1C-8938-4D8E3685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 i="0">
                <a:solidFill>
                  <a:srgbClr val="0A7C8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A7C86"/>
                </a:solidFill>
                <a:latin typeface="Arial"/>
                <a:ea typeface="Arial"/>
                <a:cs typeface="Arial"/>
              </a:rPr>
              <a:t>Does an alert mean fraud?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BBA26D-EA33-43ED-9CC1-47544FD4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482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17283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283A"/>
                </a:solidFill>
                <a:latin typeface="Arial"/>
                <a:ea typeface="Arial"/>
                <a:cs typeface="Arial"/>
              </a:rPr>
              <a:t>No. It means a key credit-file change was detected. Unfamiliar activity needs fraud review.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5F93AE-74DA-42C8-8BD1-E0952842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57825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4D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8F84F2-9151-43A1-883E-6D579037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1910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 i="0">
                <a:solidFill>
                  <a:srgbClr val="0A7C8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A7C86"/>
                </a:solidFill>
                <a:latin typeface="Arial"/>
                <a:ea typeface="Arial"/>
                <a:cs typeface="Arial"/>
              </a:rPr>
              <a:t>Will this score determine approval?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3FE6F9-DBB6-4AD4-8418-CD04367D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6482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17283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283A"/>
                </a:solidFill>
                <a:latin typeface="Arial"/>
                <a:ea typeface="Arial"/>
                <a:cs typeface="Arial"/>
              </a:rPr>
              <a:t>The lender applies its own underwriting criteria and may use a different score.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66486E-7E8F-4D09-B99F-1625E2C16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457825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4DE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B7CECB-C133-4DD5-A468-FCB642B6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53100"/>
            <a:ext cx="10477500" cy="485775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F7F0D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9F2E41-75B3-48F3-9708-809006403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5310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52E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6AFDDD-54E3-4212-9493-FB33CA05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48350"/>
            <a:ext cx="1381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13" b="1" i="0">
                <a:solidFill>
                  <a:srgbClr val="C9952E"/>
                </a:solidFill>
                <a:latin typeface="Arial"/>
                <a:ea typeface="Arial"/>
                <a:cs typeface="Arial"/>
              </a:defRPr>
            </a:pPr>
            <a:r>
              <a:rPr sz="1013" b="1" i="0">
                <a:solidFill>
                  <a:srgbClr val="C9952E"/>
                </a:solidFill>
                <a:latin typeface="Arial"/>
                <a:ea typeface="Arial"/>
                <a:cs typeface="Arial"/>
              </a:rPr>
              <a:t>LANGUAGE BOUNDARY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B209ED-516D-40E9-9044-26F926F8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819775"/>
            <a:ext cx="8667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55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88" b="0" i="0">
                <a:solidFill>
                  <a:srgbClr val="17283A"/>
                </a:solidFill>
                <a:latin typeface="Arial"/>
                <a:ea typeface="Arial"/>
                <a:cs typeface="Arial"/>
              </a:defRPr>
            </a:pPr>
            <a:r>
              <a:rPr sz="1388" b="0" i="0">
                <a:solidFill>
                  <a:srgbClr val="17283A"/>
                </a:solidFill>
                <a:latin typeface="Arial"/>
                <a:ea typeface="Arial"/>
                <a:cs typeface="Arial"/>
              </a:rPr>
              <a:t>Explain the service and the next step. Do not interpret the report, forecast the score, promise approval or give credit-repair advice.</a:t>
            </a:r>
          </a:p>
        </p:txBody>
      </p:sp>
    </p:spTree>
    <p:extLst>
      <p:ext uri="{BB962C8B-B14F-4D97-AF65-F5344CB8AC3E}">
        <p14:creationId xmlns:p14="http://schemas.microsoft.com/office/powerpoint/2010/main" val="12194959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BA4FF3-838E-4407-82BC-78AAA48A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C8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0D8C14-2D10-4F83-B4D4-223DF329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Contacts and shift handoff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07697D-2ED1-48D3-9480-7A61ED8B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1" i="0">
                <a:solidFill>
                  <a:srgbClr val="0A7C8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A7C86"/>
                </a:solidFill>
                <a:latin typeface="Arial"/>
                <a:ea typeface="Arial"/>
                <a:cs typeface="Arial"/>
              </a:rPr>
              <a:t>FRONTLINE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83A9D8-8E1C-4BF8-98F8-92CCF820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620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4D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520413-CB23-4C0A-BAD5-039073B9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885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38" b="0" i="0">
                <a:solidFill>
                  <a:srgbClr val="526778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526778"/>
                </a:solidFill>
                <a:latin typeface="Arial"/>
                <a:ea typeface="Arial"/>
                <a:cs typeface="Arial"/>
              </a:rPr>
              <a:t>INTERNAL USE  |  Confirm local policy, contacts and contractual service levels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08E524-601C-4F49-9B44-CD8FDBEA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38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75" b="1" i="0">
                <a:solidFill>
                  <a:srgbClr val="0A7C8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A7C8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590550" y="1209675"/>
          <a:ext xmlns:a="http://schemas.openxmlformats.org/drawingml/2006/main" cx="11010900" cy="4057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05125"/>
                <a:gridCol w="4762500"/>
                <a:gridCol w="3343275"/>
              </a:tblGrid>
              <a:tr h="457200">
                <a:tc>
                  <a:txBody>
                    <a:bodyPr lIns="66675" tIns="47625" rIns="66675" bIns="47625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31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Need</a:t>
                      </a:r>
                    </a:p>
                  </a:txBody>
                  <a:tcPr marL="91440" marR="91440" marT="45720" marB="45720" anchor="ctr">
                    <a:solidFill>
                      <a:srgbClr val="123B5D"/>
                    </a:solidFill>
                  </a:tcPr>
                </a:tc>
                <a:tc>
                  <a:txBody>
                    <a:bodyPr lIns="66675" tIns="47625" rIns="66675" bIns="47625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31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Primary route</a:t>
                      </a:r>
                    </a:p>
                  </a:txBody>
                  <a:tcPr marL="91440" marR="91440" marT="45720" marB="45720" anchor="ctr">
                    <a:solidFill>
                      <a:srgbClr val="123B5D"/>
                    </a:solidFill>
                  </a:tcPr>
                </a:tc>
                <a:tc>
                  <a:txBody>
                    <a:bodyPr lIns="66675" tIns="47625" rIns="66675" bIns="47625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31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Backup or after hours</a:t>
                      </a:r>
                    </a:p>
                  </a:txBody>
                  <a:tcPr marL="91440" marR="91440" marT="45720" marB="45720" anchor="ctr">
                    <a:solidFill>
                      <a:srgbClr val="123B5D"/>
                    </a:solidFill>
                  </a:tcPr>
                </a:tc>
              </a:tr>
              <a:tr h="514350">
                <a:tc>
                  <a:txBody>
                    <a:bodyPr lIns="66675" tIns="47625" rIns="66675" bIns="47625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350" b="1">
                          <a:solidFill>
                            <a:srgbClr val="17283A"/>
                          </a:solidFill>
                          <a:latin typeface="Arial"/>
                          <a:ea typeface="Arial"/>
                          <a:cs typeface="Arial"/>
                        </a:rPr>
                        <a:t>L2 Digital / Credit Sense SME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47625" rIns="66675" bIns="47625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350" b="0">
                          <a:solidFill>
                            <a:srgbClr val="17283A"/>
                          </a:solidFill>
                          <a:latin typeface="Arial"/>
                          <a:ea typeface="Arial"/>
                          <a:cs typeface="Arial"/>
                        </a:rPr>
                        <a:t>[INSERT QUEUE / NAME]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47625" rIns="66675" bIns="47625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350" b="0">
                          <a:solidFill>
                            <a:srgbClr val="17283A"/>
                          </a:solidFill>
                          <a:latin typeface="Arial"/>
                          <a:ea typeface="Arial"/>
                          <a:cs typeface="Arial"/>
                        </a:rPr>
                        <a:t>[INSERT]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66675" tIns="47625" rIns="66675" bIns="47625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350" b="1">
                          <a:solidFill>
                            <a:srgbClr val="17283A"/>
                          </a:solidFill>
                          <a:latin typeface="Arial"/>
                          <a:ea typeface="Arial"/>
                          <a:cs typeface="Arial"/>
                        </a:rPr>
                        <a:t>Technology incident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66675" tIns="47625" rIns="66675" bIns="47625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350" b="0">
                          <a:solidFill>
                            <a:srgbClr val="17283A"/>
                          </a:solidFill>
                          <a:latin typeface="Arial"/>
                          <a:ea typeface="Arial"/>
                          <a:cs typeface="Arial"/>
                        </a:rPr>
                        <a:t>[INSERT ON-CALL]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66675" tIns="47625" rIns="66675" bIns="47625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350" b="0">
                          <a:solidFill>
                            <a:srgbClr val="17283A"/>
                          </a:solidFill>
                          <a:latin typeface="Arial"/>
                          <a:ea typeface="Arial"/>
                          <a:cs typeface="Arial"/>
                        </a:rPr>
                        <a:t>[INSERT BRIDGE]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</a:tr>
              <a:tr h="514350">
                <a:tc>
                  <a:txBody>
                    <a:bodyPr lIns="66675" tIns="47625" rIns="66675" bIns="47625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350" b="1">
                          <a:solidFill>
                            <a:srgbClr val="17283A"/>
                          </a:solidFill>
                          <a:latin typeface="Arial"/>
                          <a:ea typeface="Arial"/>
                          <a:cs typeface="Arial"/>
                        </a:rPr>
                        <a:t>Risk / Compliance complaint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47625" rIns="66675" bIns="47625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350" b="0">
                          <a:solidFill>
                            <a:srgbClr val="17283A"/>
                          </a:solidFill>
                          <a:latin typeface="Arial"/>
                          <a:ea typeface="Arial"/>
                          <a:cs typeface="Arial"/>
                        </a:rPr>
                        <a:t>[INSERT QUEUE]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47625" rIns="66675" bIns="47625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350" b="0">
                          <a:solidFill>
                            <a:srgbClr val="17283A"/>
                          </a:solidFill>
                          <a:latin typeface="Arial"/>
                          <a:ea typeface="Arial"/>
                          <a:cs typeface="Arial"/>
                        </a:rPr>
                        <a:t>[INSERT]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66675" tIns="47625" rIns="66675" bIns="47625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350" b="1">
                          <a:solidFill>
                            <a:srgbClr val="17283A"/>
                          </a:solidFill>
                          <a:latin typeface="Arial"/>
                          <a:ea typeface="Arial"/>
                          <a:cs typeface="Arial"/>
                        </a:rPr>
                        <a:t>Fraud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66675" tIns="47625" rIns="66675" bIns="47625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350" b="0">
                          <a:solidFill>
                            <a:srgbClr val="17283A"/>
                          </a:solidFill>
                          <a:latin typeface="Arial"/>
                          <a:ea typeface="Arial"/>
                          <a:cs typeface="Arial"/>
                        </a:rPr>
                        <a:t>[INSERT APPROVED CHANNEL]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66675" tIns="47625" rIns="66675" bIns="47625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350" b="0">
                          <a:solidFill>
                            <a:srgbClr val="17283A"/>
                          </a:solidFill>
                          <a:latin typeface="Arial"/>
                          <a:ea typeface="Arial"/>
                          <a:cs typeface="Arial"/>
                        </a:rPr>
                        <a:t>[INSERT]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</a:tr>
              <a:tr h="514350">
                <a:tc>
                  <a:txBody>
                    <a:bodyPr lIns="66675" tIns="47625" rIns="66675" bIns="47625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350" b="1">
                          <a:solidFill>
                            <a:srgbClr val="17283A"/>
                          </a:solidFill>
                          <a:latin typeface="Arial"/>
                          <a:ea typeface="Arial"/>
                          <a:cs typeface="Arial"/>
                        </a:rPr>
                        <a:t>Privacy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47625" rIns="66675" bIns="47625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350" b="0">
                          <a:solidFill>
                            <a:srgbClr val="17283A"/>
                          </a:solidFill>
                          <a:latin typeface="Arial"/>
                          <a:ea typeface="Arial"/>
                          <a:cs typeface="Arial"/>
                        </a:rPr>
                        <a:t>[INSERT PRIVACY OFFICE]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47625" rIns="66675" bIns="47625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350" b="0">
                          <a:solidFill>
                            <a:srgbClr val="17283A"/>
                          </a:solidFill>
                          <a:latin typeface="Arial"/>
                          <a:ea typeface="Arial"/>
                          <a:cs typeface="Arial"/>
                        </a:rPr>
                        <a:t>[INSERT]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66675" tIns="47625" rIns="66675" bIns="47625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350" b="1">
                          <a:solidFill>
                            <a:srgbClr val="17283A"/>
                          </a:solidFill>
                          <a:latin typeface="Arial"/>
                          <a:ea typeface="Arial"/>
                          <a:cs typeface="Arial"/>
                        </a:rPr>
                        <a:t>SavvyMoney partner support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66675" tIns="47625" rIns="66675" bIns="47625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350" b="0">
                          <a:solidFill>
                            <a:srgbClr val="17283A"/>
                          </a:solidFill>
                          <a:latin typeface="Arial"/>
                          <a:ea typeface="Arial"/>
                          <a:cs typeface="Arial"/>
                        </a:rPr>
                        <a:t>Partner Hub / partner-support@savvymoney.com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66675" tIns="47625" rIns="66675" bIns="47625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350" b="0">
                          <a:solidFill>
                            <a:srgbClr val="17283A"/>
                          </a:solidFill>
                          <a:latin typeface="Arial"/>
                          <a:ea typeface="Arial"/>
                          <a:cs typeface="Arial"/>
                        </a:rPr>
                        <a:t>Assigned Partner Manager [INSERT]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</a:tr>
              <a:tr h="514350">
                <a:tc>
                  <a:txBody>
                    <a:bodyPr lIns="66675" tIns="47625" rIns="66675" bIns="47625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350" b="1">
                          <a:solidFill>
                            <a:srgbClr val="17283A"/>
                          </a:solidFill>
                          <a:latin typeface="Arial"/>
                          <a:ea typeface="Arial"/>
                          <a:cs typeface="Arial"/>
                        </a:rPr>
                        <a:t>SavvyMoney end-user support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47625" rIns="66675" bIns="47625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350" b="0">
                          <a:solidFill>
                            <a:srgbClr val="17283A"/>
                          </a:solidFill>
                          <a:latin typeface="Arial"/>
                          <a:ea typeface="Arial"/>
                          <a:cs typeface="Arial"/>
                        </a:rPr>
                        <a:t>support@savvymoney.com if approved by local policy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47625" rIns="66675" bIns="47625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350" b="0">
                          <a:solidFill>
                            <a:srgbClr val="17283A"/>
                          </a:solidFill>
                          <a:latin typeface="Arial"/>
                          <a:ea typeface="Arial"/>
                          <a:cs typeface="Arial"/>
                        </a:rPr>
                        <a:t>Bank keeps case ownership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A43B45-AE62-44FA-A13A-9A0FB135C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05450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C9952E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C9952E"/>
                </a:solidFill>
                <a:latin typeface="Arial"/>
                <a:ea typeface="Arial"/>
                <a:cs typeface="Arial"/>
              </a:rPr>
              <a:t>SHIFT HANDOFF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7EB89D-E7FB-413E-9920-CB7EDE82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00725"/>
            <a:ext cx="1762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952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97F948-6D51-491B-AD4A-1ADE0EE75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467350"/>
            <a:ext cx="895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88" b="0" i="0">
                <a:solidFill>
                  <a:srgbClr val="17283A"/>
                </a:solidFill>
                <a:latin typeface="Arial"/>
                <a:ea typeface="Arial"/>
                <a:cs typeface="Arial"/>
              </a:defRPr>
            </a:pPr>
            <a:r>
              <a:rPr sz="1388" b="0" i="0">
                <a:solidFill>
                  <a:srgbClr val="17283A"/>
                </a:solidFill>
                <a:latin typeface="Arial"/>
                <a:ea typeface="Arial"/>
                <a:cs typeface="Arial"/>
              </a:rPr>
              <a:t>Open P1 and P2  |  aged P3  |  customer callbacks  |  vendor case numbers  |  known issue changes  |  next dashboard owner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75B464-04F9-49DC-9287-D550F127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62675"/>
            <a:ext cx="11010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38" b="1" i="0">
                <a:solidFill>
                  <a:srgbClr val="B43B3B"/>
                </a:solidFill>
                <a:latin typeface="Arial"/>
                <a:ea typeface="Arial"/>
                <a:cs typeface="Arial"/>
              </a:defRPr>
            </a:pPr>
            <a:r>
              <a:rPr sz="1238" b="1" i="0">
                <a:solidFill>
                  <a:srgbClr val="B43B3B"/>
                </a:solidFill>
                <a:latin typeface="Arial"/>
                <a:ea typeface="Arial"/>
                <a:cs typeface="Arial"/>
              </a:rPr>
              <a:t>Before distribution, replace every bracketed field and validate vendor channels against the executed agreement.</a:t>
            </a:r>
          </a:p>
        </p:txBody>
      </p:sp>
    </p:spTree>
    <p:extLst>
      <p:ext uri="{BB962C8B-B14F-4D97-AF65-F5344CB8AC3E}">
        <p14:creationId xmlns:p14="http://schemas.microsoft.com/office/powerpoint/2010/main" val="11959293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2026-09-17T23:05:03.0950000Z</dcterms:created>
  <dcterms:modified xsi:type="dcterms:W3CDTF">2026-09-17T23:05:03.0950000Z</dcterms:modified>
</coreProperties>
</file>