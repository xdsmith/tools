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42ed9e58d416b" /><Relationship Type="http://schemas.openxmlformats.org/officeDocument/2006/relationships/extended-properties" Target="/docProps/app.xml" Id="R3f3151da17cf4222" /><Relationship Type="http://schemas.openxmlformats.org/officeDocument/2006/relationships/officeDocument" Target="/ppt/presentation.xml" Id="R2b3b246ab480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2ca42c60c84c61"/>
  </p:sldMasterIdLst>
  <p:notesMasterIdLst>
    <p:notesMasterId xmlns:r="http://schemas.openxmlformats.org/officeDocument/2006/relationships" r:id="R38da63b973374467"/>
  </p:notesMasterIdLst>
  <p:sldIdLst>
    <p:sldId xmlns:r="http://schemas.openxmlformats.org/officeDocument/2006/relationships" id="256" r:id="R5c953cbfd38e4d07"/>
    <p:sldId xmlns:r="http://schemas.openxmlformats.org/officeDocument/2006/relationships" id="257" r:id="R927d975788a04eee"/>
    <p:sldId xmlns:r="http://schemas.openxmlformats.org/officeDocument/2006/relationships" id="258" r:id="Rd34699ecebe5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447f68753f455a" /><Relationship Type="http://schemas.openxmlformats.org/officeDocument/2006/relationships/slideMaster" Target="/ppt/slideMasters/slideMaster1.xml" Id="Re22ca42c60c84c61" /><Relationship Type="http://schemas.openxmlformats.org/officeDocument/2006/relationships/notesMaster" Target="/ppt/notesMasters/notesMaster1.xml" Id="R38da63b973374467" /><Relationship Type="http://schemas.openxmlformats.org/officeDocument/2006/relationships/presProps" Target="/ppt/presProps.xml" Id="R68d510aa567d4ac2" /><Relationship Type="http://schemas.openxmlformats.org/officeDocument/2006/relationships/tableStyles" Target="/ppt/tableStyles.xml" Id="R3962b6e915f1445e" /><Relationship Type="http://schemas.openxmlformats.org/officeDocument/2006/relationships/slide" Target="/ppt/slides/slide1.xml" Id="R5c953cbfd38e4d07" /><Relationship Type="http://schemas.openxmlformats.org/officeDocument/2006/relationships/slide" Target="/ppt/slides/slide2.xml" Id="R927d975788a04eee" /><Relationship Type="http://schemas.openxmlformats.org/officeDocument/2006/relationships/slide" Target="/ppt/slides/slide3.xml" Id="Rd34699ecebe5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be5c60e44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e8093dcb38498f" /><Relationship Type="http://schemas.openxmlformats.org/officeDocument/2006/relationships/notesMaster" Target="/ppt/notesMasters/notesMaster1.xml" Id="Rf94d5e62c8aa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4bdd319e84092" /><Relationship Type="http://schemas.openxmlformats.org/officeDocument/2006/relationships/notesMaster" Target="/ppt/notesMasters/notesMaster1.xml" Id="Rb0f9cd1bd10841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22138679d14abc" /><Relationship Type="http://schemas.openxmlformats.org/officeDocument/2006/relationships/notesMaster" Target="/ppt/notesMasters/notesMaster1.xml" Id="R8e0677a02b13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Lending and Credit Cards whiteboard image (.deck-build/2027-whiteboard-source.jpeg). The four priorities are groupings of related whiteboard notes, not a ranked roadmap. Supporting details remain tied to visible board wording; unclear handwriting is labeled.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Lending and Credit Cards whiteboard image (.deck-build/2027-whiteboard-source.jpeg). The four priorities are groupings of related whiteboard notes, not a ranked roadmap. Supporting details remain tied to visible board wording.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Marketing / Communications whiteboard images IMG_4111.jpeg through IMG_4117.jpeg. The four priorities are groupings of related whiteboard notes, not a ranked roadmap. Supporting details remain tied to visible board wording; unclear acronyms and diagram labels remain identified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de1adc0614d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628a1328c433a" /><Relationship Type="http://schemas.openxmlformats.org/officeDocument/2006/relationships/slideLayout" Target="/ppt/slideLayouts/slideLayout1.xml" Id="R91d30605709549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d30605709549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eb3fb48be41d6" /><Relationship Type="http://schemas.openxmlformats.org/officeDocument/2006/relationships/notesSlide" Target="/ppt/notesSlides/notesSlide1.xml" Id="R134b0a7feac340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bd3426c2424e" /><Relationship Type="http://schemas.openxmlformats.org/officeDocument/2006/relationships/notesSlide" Target="/ppt/notesSlides/notesSlide2.xml" Id="Rb6b0f9b1682145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207bc7f7d480f" /><Relationship Type="http://schemas.openxmlformats.org/officeDocument/2006/relationships/notesSlide" Target="/ppt/notesSlides/notesSlide3.xml" Id="Raec8da80eb2348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5862F-2B53-425E-9C13-2EAB381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Lending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7A3E9-9DB4-4E1A-9C9B-50065921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125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E6ECC-4C56-4DA9-B9CE-A8AACCC3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2027 workshop priorities. Grouped for clarity, not ranked.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CD922-4D13-43FB-8811-82C079B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3CAB0-4374-4F2A-8ED1-8E6786B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71625"/>
            <a:ext cx="0" cy="436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D6865-CAE5-473B-AFF1-BCA7EB41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41BF4-04D2-4009-ACF3-5DA34F4E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0C84F-CFD2-4566-BB65-C76BC5C1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Modernize loan origination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B9D4B-B74A-40F7-95C5-AACD68F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81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Implement the MeridianLink LOS and advance the product and underwriting work identified on the board.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982ED-B75D-4E50-9FBC-0A604F50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241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LOS implementation / MeridianLink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Unsecured loans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Start Smart with Mastercard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Mastercard research and recommendation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Underwriting guidelines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6691A-42EA-472E-AA05-F4F72A8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96F9B-8DD0-4241-A2CC-92EF403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906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Expand HELOC access and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3EE14-9B1C-442C-AB7F-34EB2F53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Add digital and assisted ways to access, draw and service HELOCs.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AF942-AF07-45F1-AC18-D404889E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5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Remote payment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OLB draw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CSR access [partially legible]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Increase utilization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Branch engagement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F2381-10BD-4F95-AE96-6155E92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23BBB-9C92-4296-8B03-A6D4234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9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9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Improve qualification before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97FAC-0E9E-4ED6-8246-62B869E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Help customers understand which products they may qualify for before completing an application.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D5F6F-79BA-4D96-9566-5EAE2FF9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863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Rate Re Qualifier in MeridianLink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Rate Reset Tool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Soft-pull screening before application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Reduce declines without reapplication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1FD64-74D5-4909-9B37-0B1FF45E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C4AB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F63C3-6517-41B0-8141-2144B7ED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Connect servicing across channels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BA507-BB69-4456-9417-86274C6A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Make loan servicing and customer information available across online banking, products and channels.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63704-8B12-499B-9240-E2B582D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863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DARA loan servicing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OLB activity [parenthetical unclear]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All products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All channels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9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Cross-over field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F8824-609E-4BF4-8ABC-4AE7959C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EC77F-159A-4148-9370-E319EC8C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90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Other board notes: campaigns, promo via snail mail, Nov. 26, June 27 release note, and several partially legible annotations.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4676D-3A60-4C7A-A824-FC75DD2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0152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662F3-7FDB-487F-9274-44EDD7EA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Credit Card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61D60-430D-4D1E-B15C-4A534BE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125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CF328-77C6-43FD-85CF-D55E51FA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2027 workshop priorities. Grouped for clarity, not ranked.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85227-C729-4548-9E4E-0E3723A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2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11FDF-97B2-4249-A73A-A4DE1A42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71625"/>
            <a:ext cx="0" cy="436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20D9A-E560-414C-B110-8ABE3D2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2B6BE-3656-4C86-87D3-DBFA5352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B857A-8C73-436D-A2A0-E8497C8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83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83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Personalize cross-sell and product offers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A4BA4-7A9B-402F-8DB5-7107CC68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81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Use online banking and adaptive selection to match offers to customer segments and deepen relationships.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66C1E-3A54-4389-A4A4-5CED44EB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241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OLB cross-sell opportunity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Promotion / product offer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CU goals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Adaptive product and offer selection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Broaden services to the NC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95BEC-EFC1-4A14-8656-35BE3827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A70A1-6D44-4F2C-B103-3FCF6F6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906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83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83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Expand rewards and show customer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95F1F-BD20-4762-A59B-3893734F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Bring together cash-back offers, rotating offers and uChoose redemption.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E4468-B358-4621-8F49-BF743F4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Double cash back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Show offer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Q2 offer, rotating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Display customer savings / reward value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Expand uChoose Reward / Redemption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C2845-DD5B-4092-BC97-43A1D395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89BF9-19BF-4690-A785-50D12F3A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Expand digital card servicing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4EF2C-A35A-40F8-AB58-E0DCF0B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Move common card-management needs into online and mobile servicing.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23C57-277E-4E6F-9329-1DF2F10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863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Credit-line increase request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Fiserv Credit Management and core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Manage PIN for debit and credit cards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Dispute management from My Card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Open and track potential fraud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93071-169F-4883-81E1-02F30A3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98A2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E44B4-0971-49FE-AAC8-6534C44F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Explore Buy Now Pay 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CF357-47F6-4B68-ADC9-C5D01D8A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The board identifies Buy Now Pay Later as a Q3/Q4 item.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DEB73-F8D7-4A94-9064-79FE9AF3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863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Q3/Q4: Buy Now Pay Later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EA302-48A3-473B-9182-D8C9EF5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6A180-A79B-4597-A730-A01D0FB7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90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Other board notes: LOS, OLB pre-validation, address / views, core references, and orange annotations that remain partly illegible.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29362-3854-41BA-8585-1FE927E0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676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AA71D-27FA-4CCF-A33F-CE7955E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Marketing / Communications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2BE15-A099-418D-ACD2-52A5C04D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125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9E3D2-A922-445C-8B61-A8EB7462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2027 workshop priorities. Grouped for clarity, not ranked.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350F9-F36D-4D6E-9F5F-86969319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F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66B2D-683F-44EA-848F-296F72B2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71625"/>
            <a:ext cx="0" cy="436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8CD60-112B-4878-B0DA-ADD7544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25F86-8B05-4A6D-86A0-EE0B62B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86E27-2A8A-4C83-8351-072335C2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6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6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Deliver personalized offers in digital channels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58470-B1B8-43E7-BCF1-A07A6E9F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81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Use email, the home page, online banking and in-app placements for targeted offers.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475C6-4400-4DE1-9B97-B0F310DC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241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Ad targeting and personalization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Email journey and home-page banner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OLB personalized banner and offer page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A/B testing and timing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7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In-app offer at 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2C1AA-C91F-4D84-B36B-49722E81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DA453-4E32-46BF-B988-8F7417A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906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Connect marketing data and measurement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46336-1782-4F16-BE7F-FCE0F98E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Track customer response and connect the platforms and data that support offer delivery.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B8BA4-E12E-4FD3-BFE6-B17C2E66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Data and analytics tracking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Track ad taps and CTA response in Marketing Cloud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Custom build for displaying offers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Increase data freshness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Connect Marketing Cloud to Engage360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4EE96-5813-4EAF-9005-66EC26EF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0B611-A329-432F-9043-BC243CFA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68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68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Build a communications operating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5B270-0759-4D70-9FC3-29FA07C4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Use a charter and hub-and-spoke model to coordinate triggers and communication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B2A87-8FFA-4E41-B2C5-8A24B600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863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5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Communications charter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Hub-and-spoke vision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Event triggers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Omni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0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Business logic and trigger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90EB0-6F6E-4AFE-B838-5D02F71C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8F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0552F-DD03-4648-80FE-9BC7BFEE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Improve lifecycle messaging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992E0-6C50-44E0-8738-4A1ECC62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Add push, clean up current messaging and use feedback and weighting to improve relevance.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102C6-5D9A-4E24-A2A1-E3FBB38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86325"/>
            <a:ext cx="4514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Push-notification integration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Messaging cleanup and ongoing alignment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Existing-customer application start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Rejected-loan messaging and suppression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Skip-a-Pay integration with DARA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3" b="0">
                <a:solidFill>
                  <a:srgbClr val="102235"/>
                </a:solidFill>
                <a:latin typeface="Helvetica Neue"/>
                <a:ea typeface="Helvetica Neue"/>
                <a:cs typeface="Helvetica Neue"/>
              </a:rPr>
              <a:t>• Feedback loop and message weighting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1F63D-8E9B-4E36-992E-87B9AC6F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B3038-355F-435C-84C4-792F290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90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1">
                <a:solidFill>
                  <a:srgbClr val="506172"/>
                </a:solidFill>
                <a:latin typeface="Helvetica Neue"/>
                <a:ea typeface="Helvetica Neue"/>
                <a:cs typeface="Helvetica Neue"/>
              </a:rPr>
              <a:t>Other board notes: Fiserv development timing, Phase 2 / Phase 3+, multiple data sources, account-opening A/B test, and unclear assessment / diagram terms.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1C567-EB6D-460B-A467-5BB70AF1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0161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2026-09-18T12:52:32.9440000Z</dcterms:created>
  <dcterms:modified xsi:type="dcterms:W3CDTF">2026-09-18T12:52:32.9440000Z</dcterms:modified>
</coreProperties>
</file>