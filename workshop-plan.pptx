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 Strategy Workshops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of the work to date, and an outline for the next three sessions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the Lending and Credit Cards roadmap in the customer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capability roadmap, built from your team's input — recapped before we ground it in the customer.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304892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6426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2532888"/>
            <a:ext cx="439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063240"/>
            <a:ext cx="4573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 defined across Lending and Credit Cards, each with a stated enterprise and customer outcome.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6724" y="2240280"/>
            <a:ext cx="5304892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2484" y="26426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86804" y="2532888"/>
            <a:ext cx="439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12484" y="3063240"/>
            <a:ext cx="4573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Origination, servicing, and a unified customer view underlie most items and gate the order of work.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304892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45628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4453128"/>
            <a:ext cx="439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draft sequence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983480"/>
            <a:ext cx="4573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dependency-driven waves, with BNPL held at its stated Q3/Q4 as a fixed anchor.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6724" y="4160520"/>
            <a:ext cx="5304892" cy="1783080"/>
          </a:xfrm>
          <a:prstGeom prst="roundRect">
            <a:avLst>
              <a:gd name="adj" fmla="val 4615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2484" y="456285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86804" y="4453128"/>
            <a:ext cx="4390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612484" y="4983480"/>
            <a:ext cx="45733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 segment, Start Smart, campaign logic, and one illegible note remain unresolved.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capability list to customer-grounded strategy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 so far is derived inside-out from team input and ordered by dependency. These three sessions add the outside-in half — segments, journey, and customer value — and use it to validate and commit the sequence.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332378" cy="3200400"/>
          </a:xfrm>
          <a:prstGeom prst="roundRect">
            <a:avLst>
              <a:gd name="adj" fmla="val 285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28437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4297680"/>
            <a:ext cx="27105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serve, and what they are trying to accomplish across origination and servicing.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5056632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— Segments, personas, framed problem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990746" y="3794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29658" y="2514600"/>
            <a:ext cx="3332378" cy="3200400"/>
          </a:xfrm>
          <a:prstGeom prst="roundRect">
            <a:avLst>
              <a:gd name="adj" fmla="val 285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40554" y="28437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40554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40554" y="4297680"/>
            <a:ext cx="27105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target-state journey, and where OLB integration, activation, and cross-sell attach.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40554" y="5056632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— Journey map and How-Might-We set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80325" y="379476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19237" y="2514600"/>
            <a:ext cx="3332378" cy="3200400"/>
          </a:xfrm>
          <a:prstGeom prst="roundRect">
            <a:avLst>
              <a:gd name="adj" fmla="val 2857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30133" y="284378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30133" y="3474720"/>
            <a:ext cx="27105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sequence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30133" y="4297680"/>
            <a:ext cx="27105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against dependency; validate and commit the waves.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30133" y="5056632"/>
            <a:ext cx="27105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— Committed, grounded roadmap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1 ·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an inside-out capability list to a shared view of who we serve and what they are trying to accomplish.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0637215" y="530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— </a:t>
            </a:r>
            <a:pPr algn="l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initiative landscape and current-state notes (pre-read)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&amp; align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951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Objectives; the capability landscape as raw material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15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Mapping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449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and the partner groups touching these journeys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3872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65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 &amp; personas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947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the NC segment; jobs-to-be-done per segment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88536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153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Rose, Thorn, Bud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44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origination and servicing experience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38344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651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294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priority segments for the next session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2011680"/>
            <a:ext cx="3779215" cy="3703320"/>
          </a:xfrm>
          <a:prstGeom prst="roundRect">
            <a:avLst>
              <a:gd name="adj" fmla="val 2469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83296" y="2286000"/>
            <a:ext cx="3157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83296" y="2834640"/>
            <a:ext cx="3212287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customer segments, NC resolved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personas with jobs-to-be-done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pain and opportunity inventory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framed problem statement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7044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—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product, UX, and delivery, plus representation from the lending and cards partner groups.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2 · Explore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target-state journey and locate where the OLB origination and servicing work surfaces for the customer.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0637215" y="530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— </a:t>
            </a:r>
            <a:pPr algn="l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1 segments, personas, and current-state inventory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orient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951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segment and framed problem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15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Diagramming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449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Target-state journey: origination → activation → servicing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3872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65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moments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947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Integration, onboarding/activation, and cross-sell points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88536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153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 Starters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44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How-Might-We questions from the key pains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38344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651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294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the map; rank the How-Might-We set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2011680"/>
            <a:ext cx="3779215" cy="3703320"/>
          </a:xfrm>
          <a:prstGeom prst="roundRect">
            <a:avLst>
              <a:gd name="adj" fmla="val 2469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83296" y="2286000"/>
            <a:ext cx="3157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83296" y="2834640"/>
            <a:ext cx="3212287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Target-state journey across the portfolio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OLB integration points located in the journey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and cross-sell moments, in context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prioritized How-Might-We set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7044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—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core group; add anyone owning the OLB origination and servicing integration.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3 · Prioritize &amp; sequence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by customer value against dependency, validate the wave sequence against the journey, and commit.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0637215" y="53035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— </a:t>
            </a:r>
            <a:pPr algn="l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dependencies and draft sequence; Workshop 2 journey and How-Might-We set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orient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2951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and the ranked opportunities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15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Importance/Difficulty Matrix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449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against effort and dependency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538728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46557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validation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947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three waves against the journey; hold BNPL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88536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21538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Open-items decisions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44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Smart, campaign logic, and the rest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038344"/>
            <a:ext cx="603504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96519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294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roadmap; assign owners and next steps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2011680"/>
            <a:ext cx="3779215" cy="3703320"/>
          </a:xfrm>
          <a:prstGeom prst="roundRect">
            <a:avLst>
              <a:gd name="adj" fmla="val 2469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083296" y="2286000"/>
            <a:ext cx="31574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83296" y="2834640"/>
            <a:ext cx="3212287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 plotted by value vs. difficulty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wave sequence validated against the journey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decided and logged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committed, dependency-aware roadmap with owners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70448"/>
            <a:ext cx="6995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—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group plus a decision-maker empowered to commit the sequence.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have after three sessions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customer-grounded view of the credit and loan portfolio — segments, journeys, and jobs.</a:t>
            </a:r>
            <a:endParaRPr lang="en-US" sz="1400" dirty="0"/>
          </a:p>
          <a:p>
            <a:pPr algn="l" marL="203200" indent="-2032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OLB origination, servicing, activation, and cross-sell points located within that journey.</a:t>
            </a:r>
            <a:endParaRPr lang="en-US" sz="1400" dirty="0"/>
          </a:p>
          <a:p>
            <a:pPr algn="l" marL="203200" indent="-2032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 prioritized by customer value and validated against their dependencies.</a:t>
            </a:r>
            <a:endParaRPr lang="en-US" sz="1400" dirty="0"/>
          </a:p>
          <a:p>
            <a:pPr algn="l" marL="203200" indent="-2032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committed, sequenced roadmap with owners — and the open items decided, not deferred.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35240" y="1828800"/>
            <a:ext cx="3916375" cy="3383280"/>
          </a:xfrm>
          <a:prstGeom prst="roundRect">
            <a:avLst>
              <a:gd name="adj" fmla="val 2703"/>
            </a:avLst>
          </a:prstGeom>
          <a:solidFill>
            <a:srgbClr val="F5F5F7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946136" y="2103120"/>
            <a:ext cx="3294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run these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946136" y="2651760"/>
            <a:ext cx="3349447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pre-read before each session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consistent core group across all three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Partner-group reps for the journeys in scope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decision-maker present for session 3</a:t>
            </a:r>
            <a:endParaRPr lang="en-US" sz="1150" dirty="0"/>
          </a:p>
          <a:p>
            <a:pPr algn="l"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 week between sessions to synthesize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assumes three 2-hour sessions; adjust scope per session if the count or length differs.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2026-09-13T22:27:43Z</dcterms:created>
  <dcterms:modified xsi:type="dcterms:W3CDTF">2026-09-13T22:27:43Z</dcterms:modified>
</cp:coreProperties>
</file>