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Lanes are workstreams. Columns are quarters. Solid blue: in delivery (Q4 2026). Light blue: committed (Q1 2027). Dashed bars: priorities for release April through December, currently being planned with vendor proposals; each bar spans the full window until timing is set. The red line marks today. "Not yet placed" lists work from the 2027 vision deck that is not on this roadmap yet.
Q4 2026 (OCT-DEC) RELEASES
OLB: Transfer now real-time verification; Registration security enhancements.
Shop/Buy: Tech Upgrade (.Net/UI), which enables A/B tests across product types; Streamline of service eligibility (lighter ZIP screen, citizenship question after compliance review); Simplify product pair recommendation (one optional recommendation that respects the customer's choice).
DAO: Minor account opening w/ guardian; Plaid Layer (customers confirm details instead of typing); Security hold in Alloy; Group Banking Auto-Rejust reroute; Mantl Pinwheel integration (direct deposit at opening).
Foundation: Sendgrid to SF Pipeline.
Q1 2027 (JAN-MAR) RELEASES
OLB: Credit Insight Offers; Tax docs; Pinwheel integration; OLB to Mantl SSO.
PRIORITIES FOR RELEASE (APR-DEC)
OLB: Unified login; Loan integration; Next Gen Upgrade; CheckFree Nxt; Loan &amp; Card Summary on Account Summary; Onboarding / Activation / Nxt Best Action; Push card to CashApp/Venmo like Apple Wallet.
Foundation: Digital Analytics Infrastructure; Backend Promo Code Automation.
NOT YET PLACED (FROM THE 2027 VISION DECK)
Sagent Dara loan payments (may sit within Loan integration); dispute research; passkeys; Personetics insights; Mantl shared-form research for deposits and loans. Confirm whether each belongs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4572000" cy="411480"/>
          </a:xfrm>
          <a:prstGeom prst="rect">
            <a:avLst/>
          </a:prstGeom>
          <a:noFill/>
          <a:ln/>
        </p:spPr>
        <p:txBody>
          <a:bodyPr wrap="square" lIns="0" tIns="0" rIns="0" bIns="0" rtlCol="0" anchor="t"/>
          <a:lstStyle/>
          <a:p>
            <a:pPr indent="0" marL="0">
              <a:buNone/>
            </a:pPr>
            <a:r>
              <a:rPr lang="en-US" sz="2400" b="1" dirty="0">
                <a:solidFill>
                  <a:srgbClr val="1D1D1F"/>
                </a:solidFill>
                <a:latin typeface="Arial" pitchFamily="34" charset="0"/>
                <a:ea typeface="Arial" pitchFamily="34" charset="-122"/>
                <a:cs typeface="Arial" pitchFamily="34" charset="-120"/>
              </a:rPr>
              <a:t>Digital roadmap</a:t>
            </a:r>
            <a:endParaRPr lang="en-US" sz="2400" dirty="0"/>
          </a:p>
        </p:txBody>
      </p:sp>
      <p:sp>
        <p:nvSpPr>
          <p:cNvPr id="3" name="Text 1"/>
          <p:cNvSpPr txBox="1"/>
          <p:nvPr/>
        </p:nvSpPr>
        <p:spPr>
          <a:xfrm>
            <a:off x="365760" y="658368"/>
            <a:ext cx="5486400" cy="228600"/>
          </a:xfrm>
          <a:prstGeom prst="rect">
            <a:avLst/>
          </a:prstGeom>
          <a:noFill/>
          <a:ln/>
        </p:spPr>
        <p:txBody>
          <a:bodyPr wrap="square" lIns="0" tIns="0" rIns="0" bIns="0" rtlCol="0" anchor="t"/>
          <a:lstStyle/>
          <a:p>
            <a:pPr indent="0" marL="0">
              <a:buNone/>
            </a:pPr>
            <a:r>
              <a:rPr lang="en-US" sz="1100" dirty="0">
                <a:solidFill>
                  <a:srgbClr val="6E6E73"/>
                </a:solidFill>
                <a:latin typeface="Arial" pitchFamily="34" charset="0"/>
                <a:ea typeface="Arial" pitchFamily="34" charset="-122"/>
                <a:cs typeface="Arial" pitchFamily="34" charset="-120"/>
              </a:rPr>
              <a:t>Q4 2026 – Q4 2027  ·  As of September 2026</a:t>
            </a:r>
            <a:endParaRPr lang="en-US" sz="1100" dirty="0"/>
          </a:p>
        </p:txBody>
      </p:sp>
      <p:sp>
        <p:nvSpPr>
          <p:cNvPr id="4" name="Shape 2"/>
          <p:cNvSpPr/>
          <p:nvPr/>
        </p:nvSpPr>
        <p:spPr>
          <a:xfrm>
            <a:off x="6400800" y="384048"/>
            <a:ext cx="292608" cy="164592"/>
          </a:xfrm>
          <a:prstGeom prst="roundRect">
            <a:avLst>
              <a:gd name="adj" fmla="val 27778"/>
            </a:avLst>
          </a:prstGeom>
          <a:solidFill>
            <a:srgbClr val="0071E3"/>
          </a:solidFill>
          <a:ln w="12700">
            <a:solidFill>
              <a:srgbClr val="0071E3"/>
            </a:solidFill>
            <a:prstDash val="solid"/>
          </a:ln>
        </p:spPr>
      </p:sp>
      <p:sp>
        <p:nvSpPr>
          <p:cNvPr id="5" name="Text 3"/>
          <p:cNvSpPr txBox="1"/>
          <p:nvPr/>
        </p:nvSpPr>
        <p:spPr>
          <a:xfrm>
            <a:off x="6766560" y="356616"/>
            <a:ext cx="1737360" cy="219456"/>
          </a:xfrm>
          <a:prstGeom prst="rect">
            <a:avLst/>
          </a:prstGeom>
          <a:noFill/>
          <a:ln/>
        </p:spPr>
        <p:txBody>
          <a:bodyPr wrap="square" lIns="0" tIns="0" rIns="0" bIns="0" rtlCol="0" anchor="ctr"/>
          <a:lstStyle/>
          <a:p>
            <a:pPr indent="0" marL="0">
              <a:buNone/>
            </a:pPr>
            <a:r>
              <a:rPr lang="en-US" sz="950" dirty="0">
                <a:solidFill>
                  <a:srgbClr val="1D1D1F"/>
                </a:solidFill>
                <a:latin typeface="Arial" pitchFamily="34" charset="0"/>
                <a:ea typeface="Arial" pitchFamily="34" charset="-122"/>
                <a:cs typeface="Arial" pitchFamily="34" charset="-120"/>
              </a:rPr>
              <a:t>In delivery</a:t>
            </a:r>
            <a:endParaRPr lang="en-US" sz="950" dirty="0"/>
          </a:p>
        </p:txBody>
      </p:sp>
      <p:sp>
        <p:nvSpPr>
          <p:cNvPr id="6" name="Shape 4"/>
          <p:cNvSpPr/>
          <p:nvPr/>
        </p:nvSpPr>
        <p:spPr>
          <a:xfrm>
            <a:off x="7726680" y="384048"/>
            <a:ext cx="292608" cy="164592"/>
          </a:xfrm>
          <a:prstGeom prst="roundRect">
            <a:avLst>
              <a:gd name="adj" fmla="val 27778"/>
            </a:avLst>
          </a:prstGeom>
          <a:solidFill>
            <a:srgbClr val="DCEBFC"/>
          </a:solidFill>
          <a:ln w="12700">
            <a:solidFill>
              <a:srgbClr val="DCEBFC"/>
            </a:solidFill>
            <a:prstDash val="solid"/>
          </a:ln>
        </p:spPr>
      </p:sp>
      <p:sp>
        <p:nvSpPr>
          <p:cNvPr id="7" name="Text 5"/>
          <p:cNvSpPr txBox="1"/>
          <p:nvPr/>
        </p:nvSpPr>
        <p:spPr>
          <a:xfrm>
            <a:off x="8092440" y="356616"/>
            <a:ext cx="1737360" cy="219456"/>
          </a:xfrm>
          <a:prstGeom prst="rect">
            <a:avLst/>
          </a:prstGeom>
          <a:noFill/>
          <a:ln/>
        </p:spPr>
        <p:txBody>
          <a:bodyPr wrap="square" lIns="0" tIns="0" rIns="0" bIns="0" rtlCol="0" anchor="ctr"/>
          <a:lstStyle/>
          <a:p>
            <a:pPr indent="0" marL="0">
              <a:buNone/>
            </a:pPr>
            <a:r>
              <a:rPr lang="en-US" sz="950" dirty="0">
                <a:solidFill>
                  <a:srgbClr val="1D1D1F"/>
                </a:solidFill>
                <a:latin typeface="Arial" pitchFamily="34" charset="0"/>
                <a:ea typeface="Arial" pitchFamily="34" charset="-122"/>
                <a:cs typeface="Arial" pitchFamily="34" charset="-120"/>
              </a:rPr>
              <a:t>Committed</a:t>
            </a:r>
            <a:endParaRPr lang="en-US" sz="950" dirty="0"/>
          </a:p>
        </p:txBody>
      </p:sp>
      <p:sp>
        <p:nvSpPr>
          <p:cNvPr id="8" name="Shape 6"/>
          <p:cNvSpPr/>
          <p:nvPr/>
        </p:nvSpPr>
        <p:spPr>
          <a:xfrm>
            <a:off x="9052560" y="384048"/>
            <a:ext cx="292608" cy="164592"/>
          </a:xfrm>
          <a:prstGeom prst="roundRect">
            <a:avLst>
              <a:gd name="adj" fmla="val 27778"/>
            </a:avLst>
          </a:prstGeom>
          <a:solidFill>
            <a:srgbClr val="FFFFFF"/>
          </a:solidFill>
          <a:ln w="12700">
            <a:solidFill>
              <a:srgbClr val="8E8E93"/>
            </a:solidFill>
            <a:prstDash val="dash"/>
          </a:ln>
        </p:spPr>
      </p:sp>
      <p:sp>
        <p:nvSpPr>
          <p:cNvPr id="9" name="Text 7"/>
          <p:cNvSpPr txBox="1"/>
          <p:nvPr/>
        </p:nvSpPr>
        <p:spPr>
          <a:xfrm>
            <a:off x="9418320" y="356616"/>
            <a:ext cx="1737360" cy="219456"/>
          </a:xfrm>
          <a:prstGeom prst="rect">
            <a:avLst/>
          </a:prstGeom>
          <a:noFill/>
          <a:ln/>
        </p:spPr>
        <p:txBody>
          <a:bodyPr wrap="square" lIns="0" tIns="0" rIns="0" bIns="0" rtlCol="0" anchor="ctr"/>
          <a:lstStyle/>
          <a:p>
            <a:pPr indent="0" marL="0">
              <a:buNone/>
            </a:pPr>
            <a:r>
              <a:rPr lang="en-US" sz="950" dirty="0">
                <a:solidFill>
                  <a:srgbClr val="1D1D1F"/>
                </a:solidFill>
                <a:latin typeface="Arial" pitchFamily="34" charset="0"/>
                <a:ea typeface="Arial" pitchFamily="34" charset="-122"/>
                <a:cs typeface="Arial" pitchFamily="34" charset="-120"/>
              </a:rPr>
              <a:t>Priority, being planned</a:t>
            </a:r>
            <a:endParaRPr lang="en-US" sz="950" dirty="0"/>
          </a:p>
        </p:txBody>
      </p:sp>
      <p:sp>
        <p:nvSpPr>
          <p:cNvPr id="10" name="Text 8"/>
          <p:cNvSpPr txBox="1"/>
          <p:nvPr/>
        </p:nvSpPr>
        <p:spPr>
          <a:xfrm>
            <a:off x="1664208" y="987552"/>
            <a:ext cx="2514600" cy="237744"/>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Q4 2026</a:t>
            </a:r>
            <a:endParaRPr lang="en-US" sz="1250" dirty="0"/>
          </a:p>
        </p:txBody>
      </p:sp>
      <p:sp>
        <p:nvSpPr>
          <p:cNvPr id="11" name="Text 9"/>
          <p:cNvSpPr txBox="1"/>
          <p:nvPr/>
        </p:nvSpPr>
        <p:spPr>
          <a:xfrm>
            <a:off x="1664208" y="1225296"/>
            <a:ext cx="2514600" cy="182880"/>
          </a:xfrm>
          <a:prstGeom prst="rect">
            <a:avLst/>
          </a:prstGeom>
          <a:noFill/>
          <a:ln/>
        </p:spPr>
        <p:txBody>
          <a:bodyPr wrap="square" lIns="0" tIns="0" rIns="0" bIns="0" rtlCol="0" anchor="t"/>
          <a:lstStyle/>
          <a:p>
            <a:pPr indent="0" marL="0">
              <a:buNone/>
            </a:pPr>
            <a:r>
              <a:rPr lang="en-US" sz="850" dirty="0">
                <a:solidFill>
                  <a:srgbClr val="6E6E73"/>
                </a:solidFill>
                <a:latin typeface="Arial" pitchFamily="34" charset="0"/>
                <a:ea typeface="Arial" pitchFamily="34" charset="-122"/>
                <a:cs typeface="Arial" pitchFamily="34" charset="-120"/>
              </a:rPr>
              <a:t>Oct–Dec</a:t>
            </a:r>
            <a:endParaRPr lang="en-US" sz="850" dirty="0"/>
          </a:p>
        </p:txBody>
      </p:sp>
      <p:sp>
        <p:nvSpPr>
          <p:cNvPr id="12" name="Text 10"/>
          <p:cNvSpPr txBox="1"/>
          <p:nvPr/>
        </p:nvSpPr>
        <p:spPr>
          <a:xfrm>
            <a:off x="4361688" y="987552"/>
            <a:ext cx="2331720" cy="237744"/>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Q1 2027</a:t>
            </a:r>
            <a:endParaRPr lang="en-US" sz="1250" dirty="0"/>
          </a:p>
        </p:txBody>
      </p:sp>
      <p:sp>
        <p:nvSpPr>
          <p:cNvPr id="13" name="Text 11"/>
          <p:cNvSpPr txBox="1"/>
          <p:nvPr/>
        </p:nvSpPr>
        <p:spPr>
          <a:xfrm>
            <a:off x="4361688" y="1225296"/>
            <a:ext cx="2331720" cy="182880"/>
          </a:xfrm>
          <a:prstGeom prst="rect">
            <a:avLst/>
          </a:prstGeom>
          <a:noFill/>
          <a:ln/>
        </p:spPr>
        <p:txBody>
          <a:bodyPr wrap="square" lIns="0" tIns="0" rIns="0" bIns="0" rtlCol="0" anchor="t"/>
          <a:lstStyle/>
          <a:p>
            <a:pPr indent="0" marL="0">
              <a:buNone/>
            </a:pPr>
            <a:r>
              <a:rPr lang="en-US" sz="850" dirty="0">
                <a:solidFill>
                  <a:srgbClr val="6E6E73"/>
                </a:solidFill>
                <a:latin typeface="Arial" pitchFamily="34" charset="0"/>
                <a:ea typeface="Arial" pitchFamily="34" charset="-122"/>
                <a:cs typeface="Arial" pitchFamily="34" charset="-120"/>
              </a:rPr>
              <a:t>Jan–Mar</a:t>
            </a:r>
            <a:endParaRPr lang="en-US" sz="850" dirty="0"/>
          </a:p>
        </p:txBody>
      </p:sp>
      <p:sp>
        <p:nvSpPr>
          <p:cNvPr id="14" name="Text 12"/>
          <p:cNvSpPr txBox="1"/>
          <p:nvPr/>
        </p:nvSpPr>
        <p:spPr>
          <a:xfrm>
            <a:off x="6876288" y="987552"/>
            <a:ext cx="2331720" cy="237744"/>
          </a:xfrm>
          <a:prstGeom prst="rect">
            <a:avLst/>
          </a:prstGeom>
          <a:noFill/>
          <a:ln/>
        </p:spPr>
        <p:txBody>
          <a:bodyPr wrap="square" lIns="0" tIns="0" rIns="0" bIns="0" rtlCol="0" anchor="t"/>
          <a:lstStyle/>
          <a:p>
            <a:pPr indent="0" marL="0">
              <a:buNone/>
            </a:pPr>
            <a:r>
              <a:rPr lang="en-US" sz="1250" b="1" dirty="0">
                <a:solidFill>
                  <a:srgbClr val="6E6E73"/>
                </a:solidFill>
                <a:latin typeface="Arial" pitchFamily="34" charset="0"/>
                <a:ea typeface="Arial" pitchFamily="34" charset="-122"/>
                <a:cs typeface="Arial" pitchFamily="34" charset="-120"/>
              </a:rPr>
              <a:t>Q2 2027</a:t>
            </a:r>
            <a:endParaRPr lang="en-US" sz="1250" dirty="0"/>
          </a:p>
        </p:txBody>
      </p:sp>
      <p:sp>
        <p:nvSpPr>
          <p:cNvPr id="15" name="Text 13"/>
          <p:cNvSpPr txBox="1"/>
          <p:nvPr/>
        </p:nvSpPr>
        <p:spPr>
          <a:xfrm>
            <a:off x="6876288" y="1225296"/>
            <a:ext cx="2331720" cy="182880"/>
          </a:xfrm>
          <a:prstGeom prst="rect">
            <a:avLst/>
          </a:prstGeom>
          <a:noFill/>
          <a:ln/>
        </p:spPr>
        <p:txBody>
          <a:bodyPr wrap="square" lIns="0" tIns="0" rIns="0" bIns="0" rtlCol="0" anchor="t"/>
          <a:lstStyle/>
          <a:p>
            <a:pPr indent="0" marL="0">
              <a:buNone/>
            </a:pPr>
            <a:r>
              <a:rPr lang="en-US" sz="850" dirty="0">
                <a:solidFill>
                  <a:srgbClr val="6E6E73"/>
                </a:solidFill>
                <a:latin typeface="Arial" pitchFamily="34" charset="0"/>
                <a:ea typeface="Arial" pitchFamily="34" charset="-122"/>
                <a:cs typeface="Arial" pitchFamily="34" charset="-120"/>
              </a:rPr>
              <a:t>Apr–Jun</a:t>
            </a:r>
            <a:endParaRPr lang="en-US" sz="850" dirty="0"/>
          </a:p>
        </p:txBody>
      </p:sp>
      <p:sp>
        <p:nvSpPr>
          <p:cNvPr id="16" name="Text 14"/>
          <p:cNvSpPr txBox="1"/>
          <p:nvPr/>
        </p:nvSpPr>
        <p:spPr>
          <a:xfrm>
            <a:off x="9390888" y="987552"/>
            <a:ext cx="2359152" cy="237744"/>
          </a:xfrm>
          <a:prstGeom prst="rect">
            <a:avLst/>
          </a:prstGeom>
          <a:noFill/>
          <a:ln/>
        </p:spPr>
        <p:txBody>
          <a:bodyPr wrap="square" lIns="0" tIns="0" rIns="0" bIns="0" rtlCol="0" anchor="t"/>
          <a:lstStyle/>
          <a:p>
            <a:pPr indent="0" marL="0">
              <a:buNone/>
            </a:pPr>
            <a:r>
              <a:rPr lang="en-US" sz="1250" b="1" dirty="0">
                <a:solidFill>
                  <a:srgbClr val="6E6E73"/>
                </a:solidFill>
                <a:latin typeface="Arial" pitchFamily="34" charset="0"/>
                <a:ea typeface="Arial" pitchFamily="34" charset="-122"/>
                <a:cs typeface="Arial" pitchFamily="34" charset="-120"/>
              </a:rPr>
              <a:t>Q3–Q4 2027</a:t>
            </a:r>
            <a:endParaRPr lang="en-US" sz="1250" dirty="0"/>
          </a:p>
        </p:txBody>
      </p:sp>
      <p:sp>
        <p:nvSpPr>
          <p:cNvPr id="17" name="Text 15"/>
          <p:cNvSpPr txBox="1"/>
          <p:nvPr/>
        </p:nvSpPr>
        <p:spPr>
          <a:xfrm>
            <a:off x="9390888" y="1225296"/>
            <a:ext cx="2359152" cy="182880"/>
          </a:xfrm>
          <a:prstGeom prst="rect">
            <a:avLst/>
          </a:prstGeom>
          <a:noFill/>
          <a:ln/>
        </p:spPr>
        <p:txBody>
          <a:bodyPr wrap="square" lIns="0" tIns="0" rIns="0" bIns="0" rtlCol="0" anchor="t"/>
          <a:lstStyle/>
          <a:p>
            <a:pPr indent="0" marL="0">
              <a:buNone/>
            </a:pPr>
            <a:r>
              <a:rPr lang="en-US" sz="850" dirty="0">
                <a:solidFill>
                  <a:srgbClr val="6E6E73"/>
                </a:solidFill>
                <a:latin typeface="Arial" pitchFamily="34" charset="0"/>
                <a:ea typeface="Arial" pitchFamily="34" charset="-122"/>
                <a:cs typeface="Arial" pitchFamily="34" charset="-120"/>
              </a:rPr>
              <a:t>Jul–Dec</a:t>
            </a:r>
            <a:endParaRPr lang="en-US" sz="850" dirty="0"/>
          </a:p>
        </p:txBody>
      </p:sp>
      <p:sp>
        <p:nvSpPr>
          <p:cNvPr id="18" name="Shape 16"/>
          <p:cNvSpPr/>
          <p:nvPr/>
        </p:nvSpPr>
        <p:spPr>
          <a:xfrm>
            <a:off x="365760" y="1499616"/>
            <a:ext cx="11457432" cy="1824228"/>
          </a:xfrm>
          <a:prstGeom prst="rect">
            <a:avLst/>
          </a:prstGeom>
          <a:solidFill>
            <a:srgbClr val="F5F5F7"/>
          </a:solidFill>
          <a:ln w="12700">
            <a:solidFill>
              <a:srgbClr val="F5F5F7"/>
            </a:solidFill>
            <a:prstDash val="solid"/>
          </a:ln>
        </p:spPr>
      </p:sp>
      <p:sp>
        <p:nvSpPr>
          <p:cNvPr id="19" name="Shape 17"/>
          <p:cNvSpPr/>
          <p:nvPr/>
        </p:nvSpPr>
        <p:spPr>
          <a:xfrm>
            <a:off x="365760" y="4178808"/>
            <a:ext cx="11457432" cy="1339596"/>
          </a:xfrm>
          <a:prstGeom prst="rect">
            <a:avLst/>
          </a:prstGeom>
          <a:solidFill>
            <a:srgbClr val="F5F5F7"/>
          </a:solidFill>
          <a:ln w="12700">
            <a:solidFill>
              <a:srgbClr val="F5F5F7"/>
            </a:solidFill>
            <a:prstDash val="solid"/>
          </a:ln>
        </p:spPr>
      </p:sp>
      <p:sp>
        <p:nvSpPr>
          <p:cNvPr id="20" name="Shape 18"/>
          <p:cNvSpPr/>
          <p:nvPr/>
        </p:nvSpPr>
        <p:spPr>
          <a:xfrm>
            <a:off x="4251960" y="987552"/>
            <a:ext cx="0" cy="5600700"/>
          </a:xfrm>
          <a:prstGeom prst="line">
            <a:avLst/>
          </a:prstGeom>
          <a:noFill/>
          <a:ln w="9525">
            <a:solidFill>
              <a:srgbClr val="D2D2D7"/>
            </a:solidFill>
            <a:prstDash val="solid"/>
          </a:ln>
        </p:spPr>
      </p:sp>
      <p:sp>
        <p:nvSpPr>
          <p:cNvPr id="21" name="Shape 19"/>
          <p:cNvSpPr/>
          <p:nvPr/>
        </p:nvSpPr>
        <p:spPr>
          <a:xfrm>
            <a:off x="6766560" y="987552"/>
            <a:ext cx="0" cy="5600700"/>
          </a:xfrm>
          <a:prstGeom prst="line">
            <a:avLst/>
          </a:prstGeom>
          <a:noFill/>
          <a:ln w="9525">
            <a:solidFill>
              <a:srgbClr val="D2D2D7"/>
            </a:solidFill>
            <a:prstDash val="solid"/>
          </a:ln>
        </p:spPr>
      </p:sp>
      <p:sp>
        <p:nvSpPr>
          <p:cNvPr id="22" name="Shape 20"/>
          <p:cNvSpPr/>
          <p:nvPr/>
        </p:nvSpPr>
        <p:spPr>
          <a:xfrm>
            <a:off x="9281160" y="987552"/>
            <a:ext cx="0" cy="5600700"/>
          </a:xfrm>
          <a:prstGeom prst="line">
            <a:avLst/>
          </a:prstGeom>
          <a:noFill/>
          <a:ln w="9525">
            <a:solidFill>
              <a:srgbClr val="D2D2D7"/>
            </a:solidFill>
            <a:prstDash val="solid"/>
          </a:ln>
        </p:spPr>
      </p:sp>
      <p:sp>
        <p:nvSpPr>
          <p:cNvPr id="23" name="Shape 21"/>
          <p:cNvSpPr/>
          <p:nvPr/>
        </p:nvSpPr>
        <p:spPr>
          <a:xfrm>
            <a:off x="365760" y="1499616"/>
            <a:ext cx="11457432" cy="0"/>
          </a:xfrm>
          <a:prstGeom prst="line">
            <a:avLst/>
          </a:prstGeom>
          <a:noFill/>
          <a:ln w="9525">
            <a:solidFill>
              <a:srgbClr val="D2D2D7"/>
            </a:solidFill>
            <a:prstDash val="solid"/>
          </a:ln>
        </p:spPr>
      </p:sp>
      <p:sp>
        <p:nvSpPr>
          <p:cNvPr id="24" name="Text 22"/>
          <p:cNvSpPr txBox="1"/>
          <p:nvPr/>
        </p:nvSpPr>
        <p:spPr>
          <a:xfrm>
            <a:off x="475488" y="1581912"/>
            <a:ext cx="1005840" cy="219456"/>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OLB</a:t>
            </a:r>
            <a:endParaRPr lang="en-US" sz="1150" dirty="0"/>
          </a:p>
        </p:txBody>
      </p:sp>
      <p:sp>
        <p:nvSpPr>
          <p:cNvPr id="25" name="Shape 23"/>
          <p:cNvSpPr/>
          <p:nvPr/>
        </p:nvSpPr>
        <p:spPr>
          <a:xfrm>
            <a:off x="1645920" y="1581912"/>
            <a:ext cx="2514600" cy="205740"/>
          </a:xfrm>
          <a:prstGeom prst="roundRect">
            <a:avLst>
              <a:gd name="adj" fmla="val 22222"/>
            </a:avLst>
          </a:prstGeom>
          <a:solidFill>
            <a:srgbClr val="0071E3"/>
          </a:solidFill>
          <a:ln w="12700">
            <a:solidFill>
              <a:srgbClr val="0071E3"/>
            </a:solidFill>
            <a:prstDash val="solid"/>
          </a:ln>
        </p:spPr>
      </p:sp>
      <p:sp>
        <p:nvSpPr>
          <p:cNvPr id="26" name="Text 24"/>
          <p:cNvSpPr txBox="1"/>
          <p:nvPr/>
        </p:nvSpPr>
        <p:spPr>
          <a:xfrm>
            <a:off x="1728216" y="1581912"/>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Transfer now real-time verification</a:t>
            </a:r>
            <a:endParaRPr lang="en-US" sz="850" dirty="0"/>
          </a:p>
        </p:txBody>
      </p:sp>
      <p:sp>
        <p:nvSpPr>
          <p:cNvPr id="27" name="Shape 25"/>
          <p:cNvSpPr/>
          <p:nvPr/>
        </p:nvSpPr>
        <p:spPr>
          <a:xfrm>
            <a:off x="1645920" y="1824228"/>
            <a:ext cx="2514600" cy="205740"/>
          </a:xfrm>
          <a:prstGeom prst="roundRect">
            <a:avLst>
              <a:gd name="adj" fmla="val 22222"/>
            </a:avLst>
          </a:prstGeom>
          <a:solidFill>
            <a:srgbClr val="0071E3"/>
          </a:solidFill>
          <a:ln w="12700">
            <a:solidFill>
              <a:srgbClr val="0071E3"/>
            </a:solidFill>
            <a:prstDash val="solid"/>
          </a:ln>
        </p:spPr>
      </p:sp>
      <p:sp>
        <p:nvSpPr>
          <p:cNvPr id="28" name="Text 26"/>
          <p:cNvSpPr txBox="1"/>
          <p:nvPr/>
        </p:nvSpPr>
        <p:spPr>
          <a:xfrm>
            <a:off x="1728216" y="1824228"/>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Registration security enhancements</a:t>
            </a:r>
            <a:endParaRPr lang="en-US" sz="850" dirty="0"/>
          </a:p>
        </p:txBody>
      </p:sp>
      <p:sp>
        <p:nvSpPr>
          <p:cNvPr id="29" name="Shape 27"/>
          <p:cNvSpPr/>
          <p:nvPr/>
        </p:nvSpPr>
        <p:spPr>
          <a:xfrm>
            <a:off x="4343400" y="1581912"/>
            <a:ext cx="2331720" cy="205740"/>
          </a:xfrm>
          <a:prstGeom prst="roundRect">
            <a:avLst>
              <a:gd name="adj" fmla="val 22222"/>
            </a:avLst>
          </a:prstGeom>
          <a:solidFill>
            <a:srgbClr val="DCEBFC"/>
          </a:solidFill>
          <a:ln w="12700">
            <a:solidFill>
              <a:srgbClr val="DCEBFC"/>
            </a:solidFill>
            <a:prstDash val="solid"/>
          </a:ln>
        </p:spPr>
      </p:sp>
      <p:sp>
        <p:nvSpPr>
          <p:cNvPr id="30" name="Text 28"/>
          <p:cNvSpPr txBox="1"/>
          <p:nvPr/>
        </p:nvSpPr>
        <p:spPr>
          <a:xfrm>
            <a:off x="4425696" y="1581912"/>
            <a:ext cx="2221992" cy="205740"/>
          </a:xfrm>
          <a:prstGeom prst="rect">
            <a:avLst/>
          </a:prstGeom>
          <a:noFill/>
          <a:ln/>
        </p:spPr>
        <p:txBody>
          <a:bodyPr wrap="square" lIns="0" tIns="0" rIns="0" bIns="0" rtlCol="0" anchor="ctr"/>
          <a:lstStyle/>
          <a:p>
            <a:pPr indent="0" marL="0">
              <a:buNone/>
            </a:pPr>
            <a:r>
              <a:rPr lang="en-US" sz="850" b="1" dirty="0">
                <a:solidFill>
                  <a:srgbClr val="0A3D7A"/>
                </a:solidFill>
                <a:latin typeface="Arial" pitchFamily="34" charset="0"/>
                <a:ea typeface="Arial" pitchFamily="34" charset="-122"/>
                <a:cs typeface="Arial" pitchFamily="34" charset="-120"/>
              </a:rPr>
              <a:t>Credit Insight Offers</a:t>
            </a:r>
            <a:endParaRPr lang="en-US" sz="850" dirty="0"/>
          </a:p>
        </p:txBody>
      </p:sp>
      <p:sp>
        <p:nvSpPr>
          <p:cNvPr id="31" name="Shape 29"/>
          <p:cNvSpPr/>
          <p:nvPr/>
        </p:nvSpPr>
        <p:spPr>
          <a:xfrm>
            <a:off x="4343400" y="1824228"/>
            <a:ext cx="2331720" cy="205740"/>
          </a:xfrm>
          <a:prstGeom prst="roundRect">
            <a:avLst>
              <a:gd name="adj" fmla="val 22222"/>
            </a:avLst>
          </a:prstGeom>
          <a:solidFill>
            <a:srgbClr val="DCEBFC"/>
          </a:solidFill>
          <a:ln w="12700">
            <a:solidFill>
              <a:srgbClr val="DCEBFC"/>
            </a:solidFill>
            <a:prstDash val="solid"/>
          </a:ln>
        </p:spPr>
      </p:sp>
      <p:sp>
        <p:nvSpPr>
          <p:cNvPr id="32" name="Text 30"/>
          <p:cNvSpPr txBox="1"/>
          <p:nvPr/>
        </p:nvSpPr>
        <p:spPr>
          <a:xfrm>
            <a:off x="4425696" y="1824228"/>
            <a:ext cx="2221992" cy="205740"/>
          </a:xfrm>
          <a:prstGeom prst="rect">
            <a:avLst/>
          </a:prstGeom>
          <a:noFill/>
          <a:ln/>
        </p:spPr>
        <p:txBody>
          <a:bodyPr wrap="square" lIns="0" tIns="0" rIns="0" bIns="0" rtlCol="0" anchor="ctr"/>
          <a:lstStyle/>
          <a:p>
            <a:pPr indent="0" marL="0">
              <a:buNone/>
            </a:pPr>
            <a:r>
              <a:rPr lang="en-US" sz="850" b="1" dirty="0">
                <a:solidFill>
                  <a:srgbClr val="0A3D7A"/>
                </a:solidFill>
                <a:latin typeface="Arial" pitchFamily="34" charset="0"/>
                <a:ea typeface="Arial" pitchFamily="34" charset="-122"/>
                <a:cs typeface="Arial" pitchFamily="34" charset="-120"/>
              </a:rPr>
              <a:t>Tax docs</a:t>
            </a:r>
            <a:endParaRPr lang="en-US" sz="850" dirty="0"/>
          </a:p>
        </p:txBody>
      </p:sp>
      <p:sp>
        <p:nvSpPr>
          <p:cNvPr id="33" name="Shape 31"/>
          <p:cNvSpPr/>
          <p:nvPr/>
        </p:nvSpPr>
        <p:spPr>
          <a:xfrm>
            <a:off x="4343400" y="2066544"/>
            <a:ext cx="2331720" cy="205740"/>
          </a:xfrm>
          <a:prstGeom prst="roundRect">
            <a:avLst>
              <a:gd name="adj" fmla="val 22222"/>
            </a:avLst>
          </a:prstGeom>
          <a:solidFill>
            <a:srgbClr val="DCEBFC"/>
          </a:solidFill>
          <a:ln w="12700">
            <a:solidFill>
              <a:srgbClr val="DCEBFC"/>
            </a:solidFill>
            <a:prstDash val="solid"/>
          </a:ln>
        </p:spPr>
      </p:sp>
      <p:sp>
        <p:nvSpPr>
          <p:cNvPr id="34" name="Text 32"/>
          <p:cNvSpPr txBox="1"/>
          <p:nvPr/>
        </p:nvSpPr>
        <p:spPr>
          <a:xfrm>
            <a:off x="4425696" y="2066544"/>
            <a:ext cx="2221992" cy="205740"/>
          </a:xfrm>
          <a:prstGeom prst="rect">
            <a:avLst/>
          </a:prstGeom>
          <a:noFill/>
          <a:ln/>
        </p:spPr>
        <p:txBody>
          <a:bodyPr wrap="square" lIns="0" tIns="0" rIns="0" bIns="0" rtlCol="0" anchor="ctr"/>
          <a:lstStyle/>
          <a:p>
            <a:pPr indent="0" marL="0">
              <a:buNone/>
            </a:pPr>
            <a:r>
              <a:rPr lang="en-US" sz="850" b="1" dirty="0">
                <a:solidFill>
                  <a:srgbClr val="0A3D7A"/>
                </a:solidFill>
                <a:latin typeface="Arial" pitchFamily="34" charset="0"/>
                <a:ea typeface="Arial" pitchFamily="34" charset="-122"/>
                <a:cs typeface="Arial" pitchFamily="34" charset="-120"/>
              </a:rPr>
              <a:t>Pinwheel integration</a:t>
            </a:r>
            <a:endParaRPr lang="en-US" sz="850" dirty="0"/>
          </a:p>
        </p:txBody>
      </p:sp>
      <p:sp>
        <p:nvSpPr>
          <p:cNvPr id="35" name="Shape 33"/>
          <p:cNvSpPr/>
          <p:nvPr/>
        </p:nvSpPr>
        <p:spPr>
          <a:xfrm>
            <a:off x="4343400" y="2308860"/>
            <a:ext cx="2331720" cy="205740"/>
          </a:xfrm>
          <a:prstGeom prst="roundRect">
            <a:avLst>
              <a:gd name="adj" fmla="val 22222"/>
            </a:avLst>
          </a:prstGeom>
          <a:solidFill>
            <a:srgbClr val="DCEBFC"/>
          </a:solidFill>
          <a:ln w="12700">
            <a:solidFill>
              <a:srgbClr val="DCEBFC"/>
            </a:solidFill>
            <a:prstDash val="solid"/>
          </a:ln>
        </p:spPr>
      </p:sp>
      <p:sp>
        <p:nvSpPr>
          <p:cNvPr id="36" name="Text 34"/>
          <p:cNvSpPr txBox="1"/>
          <p:nvPr/>
        </p:nvSpPr>
        <p:spPr>
          <a:xfrm>
            <a:off x="4425696" y="2308860"/>
            <a:ext cx="2221992" cy="205740"/>
          </a:xfrm>
          <a:prstGeom prst="rect">
            <a:avLst/>
          </a:prstGeom>
          <a:noFill/>
          <a:ln/>
        </p:spPr>
        <p:txBody>
          <a:bodyPr wrap="square" lIns="0" tIns="0" rIns="0" bIns="0" rtlCol="0" anchor="ctr"/>
          <a:lstStyle/>
          <a:p>
            <a:pPr indent="0" marL="0">
              <a:buNone/>
            </a:pPr>
            <a:r>
              <a:rPr lang="en-US" sz="850" b="1" dirty="0">
                <a:solidFill>
                  <a:srgbClr val="0A3D7A"/>
                </a:solidFill>
                <a:latin typeface="Arial" pitchFamily="34" charset="0"/>
                <a:ea typeface="Arial" pitchFamily="34" charset="-122"/>
                <a:cs typeface="Arial" pitchFamily="34" charset="-120"/>
              </a:rPr>
              <a:t>OLB to Mantl SSO</a:t>
            </a:r>
            <a:endParaRPr lang="en-US" sz="850" dirty="0"/>
          </a:p>
        </p:txBody>
      </p:sp>
      <p:sp>
        <p:nvSpPr>
          <p:cNvPr id="37" name="Shape 35"/>
          <p:cNvSpPr/>
          <p:nvPr/>
        </p:nvSpPr>
        <p:spPr>
          <a:xfrm>
            <a:off x="6858000" y="1581912"/>
            <a:ext cx="4873752" cy="205740"/>
          </a:xfrm>
          <a:prstGeom prst="roundRect">
            <a:avLst>
              <a:gd name="adj" fmla="val 22222"/>
            </a:avLst>
          </a:prstGeom>
          <a:solidFill>
            <a:srgbClr val="FFFFFF"/>
          </a:solidFill>
          <a:ln w="12700">
            <a:solidFill>
              <a:srgbClr val="8E8E93"/>
            </a:solidFill>
            <a:prstDash val="dash"/>
          </a:ln>
        </p:spPr>
      </p:sp>
      <p:sp>
        <p:nvSpPr>
          <p:cNvPr id="38" name="Text 36"/>
          <p:cNvSpPr txBox="1"/>
          <p:nvPr/>
        </p:nvSpPr>
        <p:spPr>
          <a:xfrm>
            <a:off x="6940296" y="1581912"/>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Unified login</a:t>
            </a:r>
            <a:endParaRPr lang="en-US" sz="850" dirty="0"/>
          </a:p>
        </p:txBody>
      </p:sp>
      <p:sp>
        <p:nvSpPr>
          <p:cNvPr id="39" name="Shape 37"/>
          <p:cNvSpPr/>
          <p:nvPr/>
        </p:nvSpPr>
        <p:spPr>
          <a:xfrm>
            <a:off x="6858000" y="1824228"/>
            <a:ext cx="4873752" cy="205740"/>
          </a:xfrm>
          <a:prstGeom prst="roundRect">
            <a:avLst>
              <a:gd name="adj" fmla="val 22222"/>
            </a:avLst>
          </a:prstGeom>
          <a:solidFill>
            <a:srgbClr val="FFFFFF"/>
          </a:solidFill>
          <a:ln w="12700">
            <a:solidFill>
              <a:srgbClr val="8E8E93"/>
            </a:solidFill>
            <a:prstDash val="dash"/>
          </a:ln>
        </p:spPr>
      </p:sp>
      <p:sp>
        <p:nvSpPr>
          <p:cNvPr id="40" name="Text 38"/>
          <p:cNvSpPr txBox="1"/>
          <p:nvPr/>
        </p:nvSpPr>
        <p:spPr>
          <a:xfrm>
            <a:off x="6940296" y="1824228"/>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Loan integration</a:t>
            </a:r>
            <a:endParaRPr lang="en-US" sz="850" dirty="0"/>
          </a:p>
        </p:txBody>
      </p:sp>
      <p:sp>
        <p:nvSpPr>
          <p:cNvPr id="41" name="Shape 39"/>
          <p:cNvSpPr/>
          <p:nvPr/>
        </p:nvSpPr>
        <p:spPr>
          <a:xfrm>
            <a:off x="6858000" y="2066544"/>
            <a:ext cx="4873752" cy="205740"/>
          </a:xfrm>
          <a:prstGeom prst="roundRect">
            <a:avLst>
              <a:gd name="adj" fmla="val 22222"/>
            </a:avLst>
          </a:prstGeom>
          <a:solidFill>
            <a:srgbClr val="FFFFFF"/>
          </a:solidFill>
          <a:ln w="12700">
            <a:solidFill>
              <a:srgbClr val="8E8E93"/>
            </a:solidFill>
            <a:prstDash val="dash"/>
          </a:ln>
        </p:spPr>
      </p:sp>
      <p:sp>
        <p:nvSpPr>
          <p:cNvPr id="42" name="Text 40"/>
          <p:cNvSpPr txBox="1"/>
          <p:nvPr/>
        </p:nvSpPr>
        <p:spPr>
          <a:xfrm>
            <a:off x="6940296" y="2066544"/>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Next Gen Upgrade</a:t>
            </a:r>
            <a:endParaRPr lang="en-US" sz="850" dirty="0"/>
          </a:p>
        </p:txBody>
      </p:sp>
      <p:sp>
        <p:nvSpPr>
          <p:cNvPr id="43" name="Shape 41"/>
          <p:cNvSpPr/>
          <p:nvPr/>
        </p:nvSpPr>
        <p:spPr>
          <a:xfrm>
            <a:off x="6858000" y="2308860"/>
            <a:ext cx="4873752" cy="205740"/>
          </a:xfrm>
          <a:prstGeom prst="roundRect">
            <a:avLst>
              <a:gd name="adj" fmla="val 22222"/>
            </a:avLst>
          </a:prstGeom>
          <a:solidFill>
            <a:srgbClr val="FFFFFF"/>
          </a:solidFill>
          <a:ln w="12700">
            <a:solidFill>
              <a:srgbClr val="8E8E93"/>
            </a:solidFill>
            <a:prstDash val="dash"/>
          </a:ln>
        </p:spPr>
      </p:sp>
      <p:sp>
        <p:nvSpPr>
          <p:cNvPr id="44" name="Text 42"/>
          <p:cNvSpPr txBox="1"/>
          <p:nvPr/>
        </p:nvSpPr>
        <p:spPr>
          <a:xfrm>
            <a:off x="6940296" y="2308860"/>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CheckFree Nxt</a:t>
            </a:r>
            <a:endParaRPr lang="en-US" sz="850" dirty="0"/>
          </a:p>
        </p:txBody>
      </p:sp>
      <p:sp>
        <p:nvSpPr>
          <p:cNvPr id="45" name="Shape 43"/>
          <p:cNvSpPr/>
          <p:nvPr/>
        </p:nvSpPr>
        <p:spPr>
          <a:xfrm>
            <a:off x="6858000" y="2551176"/>
            <a:ext cx="4873752" cy="205740"/>
          </a:xfrm>
          <a:prstGeom prst="roundRect">
            <a:avLst>
              <a:gd name="adj" fmla="val 22222"/>
            </a:avLst>
          </a:prstGeom>
          <a:solidFill>
            <a:srgbClr val="FFFFFF"/>
          </a:solidFill>
          <a:ln w="12700">
            <a:solidFill>
              <a:srgbClr val="8E8E93"/>
            </a:solidFill>
            <a:prstDash val="dash"/>
          </a:ln>
        </p:spPr>
      </p:sp>
      <p:sp>
        <p:nvSpPr>
          <p:cNvPr id="46" name="Text 44"/>
          <p:cNvSpPr txBox="1"/>
          <p:nvPr/>
        </p:nvSpPr>
        <p:spPr>
          <a:xfrm>
            <a:off x="6940296" y="2551176"/>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Loan &amp; Card Summary on Account Summary</a:t>
            </a:r>
            <a:endParaRPr lang="en-US" sz="850" dirty="0"/>
          </a:p>
        </p:txBody>
      </p:sp>
      <p:sp>
        <p:nvSpPr>
          <p:cNvPr id="47" name="Shape 45"/>
          <p:cNvSpPr/>
          <p:nvPr/>
        </p:nvSpPr>
        <p:spPr>
          <a:xfrm>
            <a:off x="6858000" y="2793492"/>
            <a:ext cx="4873752" cy="205740"/>
          </a:xfrm>
          <a:prstGeom prst="roundRect">
            <a:avLst>
              <a:gd name="adj" fmla="val 22222"/>
            </a:avLst>
          </a:prstGeom>
          <a:solidFill>
            <a:srgbClr val="FFFFFF"/>
          </a:solidFill>
          <a:ln w="12700">
            <a:solidFill>
              <a:srgbClr val="8E8E93"/>
            </a:solidFill>
            <a:prstDash val="dash"/>
          </a:ln>
        </p:spPr>
      </p:sp>
      <p:sp>
        <p:nvSpPr>
          <p:cNvPr id="48" name="Text 46"/>
          <p:cNvSpPr txBox="1"/>
          <p:nvPr/>
        </p:nvSpPr>
        <p:spPr>
          <a:xfrm>
            <a:off x="6940296" y="2793492"/>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Onboarding / Activation / Nxt Best Action</a:t>
            </a:r>
            <a:endParaRPr lang="en-US" sz="850" dirty="0"/>
          </a:p>
        </p:txBody>
      </p:sp>
      <p:sp>
        <p:nvSpPr>
          <p:cNvPr id="49" name="Shape 47"/>
          <p:cNvSpPr/>
          <p:nvPr/>
        </p:nvSpPr>
        <p:spPr>
          <a:xfrm>
            <a:off x="6858000" y="3035808"/>
            <a:ext cx="4873752" cy="205740"/>
          </a:xfrm>
          <a:prstGeom prst="roundRect">
            <a:avLst>
              <a:gd name="adj" fmla="val 22222"/>
            </a:avLst>
          </a:prstGeom>
          <a:solidFill>
            <a:srgbClr val="FFFFFF"/>
          </a:solidFill>
          <a:ln w="12700">
            <a:solidFill>
              <a:srgbClr val="8E8E93"/>
            </a:solidFill>
            <a:prstDash val="dash"/>
          </a:ln>
        </p:spPr>
      </p:sp>
      <p:sp>
        <p:nvSpPr>
          <p:cNvPr id="50" name="Text 48"/>
          <p:cNvSpPr txBox="1"/>
          <p:nvPr/>
        </p:nvSpPr>
        <p:spPr>
          <a:xfrm>
            <a:off x="6940296" y="3035808"/>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Push card to CashApp/Venmo like Apple Wallet</a:t>
            </a:r>
            <a:endParaRPr lang="en-US" sz="850" dirty="0"/>
          </a:p>
        </p:txBody>
      </p:sp>
      <p:sp>
        <p:nvSpPr>
          <p:cNvPr id="51" name="Shape 49"/>
          <p:cNvSpPr/>
          <p:nvPr/>
        </p:nvSpPr>
        <p:spPr>
          <a:xfrm>
            <a:off x="365760" y="3323844"/>
            <a:ext cx="11457432" cy="0"/>
          </a:xfrm>
          <a:prstGeom prst="line">
            <a:avLst/>
          </a:prstGeom>
          <a:noFill/>
          <a:ln w="9525">
            <a:solidFill>
              <a:srgbClr val="D2D2D7"/>
            </a:solidFill>
            <a:prstDash val="solid"/>
          </a:ln>
        </p:spPr>
      </p:sp>
      <p:sp>
        <p:nvSpPr>
          <p:cNvPr id="52" name="Text 50"/>
          <p:cNvSpPr txBox="1"/>
          <p:nvPr/>
        </p:nvSpPr>
        <p:spPr>
          <a:xfrm>
            <a:off x="475488" y="3406140"/>
            <a:ext cx="1005840" cy="219456"/>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Shop/Buy</a:t>
            </a:r>
            <a:endParaRPr lang="en-US" sz="1150" dirty="0"/>
          </a:p>
        </p:txBody>
      </p:sp>
      <p:sp>
        <p:nvSpPr>
          <p:cNvPr id="53" name="Shape 51"/>
          <p:cNvSpPr/>
          <p:nvPr/>
        </p:nvSpPr>
        <p:spPr>
          <a:xfrm>
            <a:off x="1645920" y="3406140"/>
            <a:ext cx="2514600" cy="205740"/>
          </a:xfrm>
          <a:prstGeom prst="roundRect">
            <a:avLst>
              <a:gd name="adj" fmla="val 22222"/>
            </a:avLst>
          </a:prstGeom>
          <a:solidFill>
            <a:srgbClr val="0071E3"/>
          </a:solidFill>
          <a:ln w="12700">
            <a:solidFill>
              <a:srgbClr val="0071E3"/>
            </a:solidFill>
            <a:prstDash val="solid"/>
          </a:ln>
        </p:spPr>
      </p:sp>
      <p:sp>
        <p:nvSpPr>
          <p:cNvPr id="54" name="Text 52"/>
          <p:cNvSpPr txBox="1"/>
          <p:nvPr/>
        </p:nvSpPr>
        <p:spPr>
          <a:xfrm>
            <a:off x="1728216" y="3406140"/>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Tech Upgrade (.Net/UI)</a:t>
            </a:r>
            <a:endParaRPr lang="en-US" sz="850" dirty="0"/>
          </a:p>
        </p:txBody>
      </p:sp>
      <p:sp>
        <p:nvSpPr>
          <p:cNvPr id="55" name="Shape 53"/>
          <p:cNvSpPr/>
          <p:nvPr/>
        </p:nvSpPr>
        <p:spPr>
          <a:xfrm>
            <a:off x="1645920" y="3648456"/>
            <a:ext cx="2514600" cy="205740"/>
          </a:xfrm>
          <a:prstGeom prst="roundRect">
            <a:avLst>
              <a:gd name="adj" fmla="val 22222"/>
            </a:avLst>
          </a:prstGeom>
          <a:solidFill>
            <a:srgbClr val="0071E3"/>
          </a:solidFill>
          <a:ln w="12700">
            <a:solidFill>
              <a:srgbClr val="0071E3"/>
            </a:solidFill>
            <a:prstDash val="solid"/>
          </a:ln>
        </p:spPr>
      </p:sp>
      <p:sp>
        <p:nvSpPr>
          <p:cNvPr id="56" name="Text 54"/>
          <p:cNvSpPr txBox="1"/>
          <p:nvPr/>
        </p:nvSpPr>
        <p:spPr>
          <a:xfrm>
            <a:off x="1728216" y="3648456"/>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Streamline of service eligibility</a:t>
            </a:r>
            <a:endParaRPr lang="en-US" sz="850" dirty="0"/>
          </a:p>
        </p:txBody>
      </p:sp>
      <p:sp>
        <p:nvSpPr>
          <p:cNvPr id="57" name="Shape 55"/>
          <p:cNvSpPr/>
          <p:nvPr/>
        </p:nvSpPr>
        <p:spPr>
          <a:xfrm>
            <a:off x="1645920" y="3890772"/>
            <a:ext cx="2514600" cy="205740"/>
          </a:xfrm>
          <a:prstGeom prst="roundRect">
            <a:avLst>
              <a:gd name="adj" fmla="val 22222"/>
            </a:avLst>
          </a:prstGeom>
          <a:solidFill>
            <a:srgbClr val="0071E3"/>
          </a:solidFill>
          <a:ln w="12700">
            <a:solidFill>
              <a:srgbClr val="0071E3"/>
            </a:solidFill>
            <a:prstDash val="solid"/>
          </a:ln>
        </p:spPr>
      </p:sp>
      <p:sp>
        <p:nvSpPr>
          <p:cNvPr id="58" name="Text 56"/>
          <p:cNvSpPr txBox="1"/>
          <p:nvPr/>
        </p:nvSpPr>
        <p:spPr>
          <a:xfrm>
            <a:off x="1728216" y="3890772"/>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Simplify product pair recommendation</a:t>
            </a:r>
            <a:endParaRPr lang="en-US" sz="850" dirty="0"/>
          </a:p>
        </p:txBody>
      </p:sp>
      <p:sp>
        <p:nvSpPr>
          <p:cNvPr id="59" name="Shape 57"/>
          <p:cNvSpPr/>
          <p:nvPr/>
        </p:nvSpPr>
        <p:spPr>
          <a:xfrm>
            <a:off x="365760" y="4178808"/>
            <a:ext cx="11457432" cy="0"/>
          </a:xfrm>
          <a:prstGeom prst="line">
            <a:avLst/>
          </a:prstGeom>
          <a:noFill/>
          <a:ln w="9525">
            <a:solidFill>
              <a:srgbClr val="D2D2D7"/>
            </a:solidFill>
            <a:prstDash val="solid"/>
          </a:ln>
        </p:spPr>
      </p:sp>
      <p:sp>
        <p:nvSpPr>
          <p:cNvPr id="60" name="Text 58"/>
          <p:cNvSpPr txBox="1"/>
          <p:nvPr/>
        </p:nvSpPr>
        <p:spPr>
          <a:xfrm>
            <a:off x="475488" y="4261104"/>
            <a:ext cx="1005840" cy="219456"/>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DAO</a:t>
            </a:r>
            <a:endParaRPr lang="en-US" sz="1150" dirty="0"/>
          </a:p>
        </p:txBody>
      </p:sp>
      <p:sp>
        <p:nvSpPr>
          <p:cNvPr id="61" name="Shape 59"/>
          <p:cNvSpPr/>
          <p:nvPr/>
        </p:nvSpPr>
        <p:spPr>
          <a:xfrm>
            <a:off x="1645920" y="4261104"/>
            <a:ext cx="2514600" cy="205740"/>
          </a:xfrm>
          <a:prstGeom prst="roundRect">
            <a:avLst>
              <a:gd name="adj" fmla="val 22222"/>
            </a:avLst>
          </a:prstGeom>
          <a:solidFill>
            <a:srgbClr val="0071E3"/>
          </a:solidFill>
          <a:ln w="12700">
            <a:solidFill>
              <a:srgbClr val="0071E3"/>
            </a:solidFill>
            <a:prstDash val="solid"/>
          </a:ln>
        </p:spPr>
      </p:sp>
      <p:sp>
        <p:nvSpPr>
          <p:cNvPr id="62" name="Text 60"/>
          <p:cNvSpPr txBox="1"/>
          <p:nvPr/>
        </p:nvSpPr>
        <p:spPr>
          <a:xfrm>
            <a:off x="1728216" y="4261104"/>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Minor account opening w/ guardian</a:t>
            </a:r>
            <a:endParaRPr lang="en-US" sz="850" dirty="0"/>
          </a:p>
        </p:txBody>
      </p:sp>
      <p:sp>
        <p:nvSpPr>
          <p:cNvPr id="63" name="Shape 61"/>
          <p:cNvSpPr/>
          <p:nvPr/>
        </p:nvSpPr>
        <p:spPr>
          <a:xfrm>
            <a:off x="1645920" y="4503420"/>
            <a:ext cx="2514600" cy="205740"/>
          </a:xfrm>
          <a:prstGeom prst="roundRect">
            <a:avLst>
              <a:gd name="adj" fmla="val 22222"/>
            </a:avLst>
          </a:prstGeom>
          <a:solidFill>
            <a:srgbClr val="0071E3"/>
          </a:solidFill>
          <a:ln w="12700">
            <a:solidFill>
              <a:srgbClr val="0071E3"/>
            </a:solidFill>
            <a:prstDash val="solid"/>
          </a:ln>
        </p:spPr>
      </p:sp>
      <p:sp>
        <p:nvSpPr>
          <p:cNvPr id="64" name="Text 62"/>
          <p:cNvSpPr txBox="1"/>
          <p:nvPr/>
        </p:nvSpPr>
        <p:spPr>
          <a:xfrm>
            <a:off x="1728216" y="4503420"/>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Plaid Layer</a:t>
            </a:r>
            <a:endParaRPr lang="en-US" sz="850" dirty="0"/>
          </a:p>
        </p:txBody>
      </p:sp>
      <p:sp>
        <p:nvSpPr>
          <p:cNvPr id="65" name="Shape 63"/>
          <p:cNvSpPr/>
          <p:nvPr/>
        </p:nvSpPr>
        <p:spPr>
          <a:xfrm>
            <a:off x="1645920" y="4745736"/>
            <a:ext cx="2514600" cy="205740"/>
          </a:xfrm>
          <a:prstGeom prst="roundRect">
            <a:avLst>
              <a:gd name="adj" fmla="val 22222"/>
            </a:avLst>
          </a:prstGeom>
          <a:solidFill>
            <a:srgbClr val="0071E3"/>
          </a:solidFill>
          <a:ln w="12700">
            <a:solidFill>
              <a:srgbClr val="0071E3"/>
            </a:solidFill>
            <a:prstDash val="solid"/>
          </a:ln>
        </p:spPr>
      </p:sp>
      <p:sp>
        <p:nvSpPr>
          <p:cNvPr id="66" name="Text 64"/>
          <p:cNvSpPr txBox="1"/>
          <p:nvPr/>
        </p:nvSpPr>
        <p:spPr>
          <a:xfrm>
            <a:off x="1728216" y="4745736"/>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Security hold in Alloy</a:t>
            </a:r>
            <a:endParaRPr lang="en-US" sz="850" dirty="0"/>
          </a:p>
        </p:txBody>
      </p:sp>
      <p:sp>
        <p:nvSpPr>
          <p:cNvPr id="67" name="Shape 65"/>
          <p:cNvSpPr/>
          <p:nvPr/>
        </p:nvSpPr>
        <p:spPr>
          <a:xfrm>
            <a:off x="1645920" y="4988052"/>
            <a:ext cx="2514600" cy="205740"/>
          </a:xfrm>
          <a:prstGeom prst="roundRect">
            <a:avLst>
              <a:gd name="adj" fmla="val 22222"/>
            </a:avLst>
          </a:prstGeom>
          <a:solidFill>
            <a:srgbClr val="0071E3"/>
          </a:solidFill>
          <a:ln w="12700">
            <a:solidFill>
              <a:srgbClr val="0071E3"/>
            </a:solidFill>
            <a:prstDash val="solid"/>
          </a:ln>
        </p:spPr>
      </p:sp>
      <p:sp>
        <p:nvSpPr>
          <p:cNvPr id="68" name="Text 66"/>
          <p:cNvSpPr txBox="1"/>
          <p:nvPr/>
        </p:nvSpPr>
        <p:spPr>
          <a:xfrm>
            <a:off x="1728216" y="4988052"/>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Group Banking Auto-Rejust reroute</a:t>
            </a:r>
            <a:endParaRPr lang="en-US" sz="850" dirty="0"/>
          </a:p>
        </p:txBody>
      </p:sp>
      <p:sp>
        <p:nvSpPr>
          <p:cNvPr id="69" name="Shape 67"/>
          <p:cNvSpPr/>
          <p:nvPr/>
        </p:nvSpPr>
        <p:spPr>
          <a:xfrm>
            <a:off x="1645920" y="5230368"/>
            <a:ext cx="2514600" cy="205740"/>
          </a:xfrm>
          <a:prstGeom prst="roundRect">
            <a:avLst>
              <a:gd name="adj" fmla="val 22222"/>
            </a:avLst>
          </a:prstGeom>
          <a:solidFill>
            <a:srgbClr val="0071E3"/>
          </a:solidFill>
          <a:ln w="12700">
            <a:solidFill>
              <a:srgbClr val="0071E3"/>
            </a:solidFill>
            <a:prstDash val="solid"/>
          </a:ln>
        </p:spPr>
      </p:sp>
      <p:sp>
        <p:nvSpPr>
          <p:cNvPr id="70" name="Text 68"/>
          <p:cNvSpPr txBox="1"/>
          <p:nvPr/>
        </p:nvSpPr>
        <p:spPr>
          <a:xfrm>
            <a:off x="1728216" y="5230368"/>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Mantl Pinwheel integration</a:t>
            </a:r>
            <a:endParaRPr lang="en-US" sz="850" dirty="0"/>
          </a:p>
        </p:txBody>
      </p:sp>
      <p:sp>
        <p:nvSpPr>
          <p:cNvPr id="71" name="Shape 69"/>
          <p:cNvSpPr/>
          <p:nvPr/>
        </p:nvSpPr>
        <p:spPr>
          <a:xfrm>
            <a:off x="365760" y="5518404"/>
            <a:ext cx="11457432" cy="0"/>
          </a:xfrm>
          <a:prstGeom prst="line">
            <a:avLst/>
          </a:prstGeom>
          <a:noFill/>
          <a:ln w="9525">
            <a:solidFill>
              <a:srgbClr val="D2D2D7"/>
            </a:solidFill>
            <a:prstDash val="solid"/>
          </a:ln>
        </p:spPr>
      </p:sp>
      <p:sp>
        <p:nvSpPr>
          <p:cNvPr id="72" name="Text 70"/>
          <p:cNvSpPr txBox="1"/>
          <p:nvPr/>
        </p:nvSpPr>
        <p:spPr>
          <a:xfrm>
            <a:off x="475488" y="5600700"/>
            <a:ext cx="1005840" cy="219456"/>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Foundation</a:t>
            </a:r>
            <a:endParaRPr lang="en-US" sz="1150" dirty="0"/>
          </a:p>
        </p:txBody>
      </p:sp>
      <p:sp>
        <p:nvSpPr>
          <p:cNvPr id="73" name="Shape 71"/>
          <p:cNvSpPr/>
          <p:nvPr/>
        </p:nvSpPr>
        <p:spPr>
          <a:xfrm>
            <a:off x="1645920" y="5600700"/>
            <a:ext cx="2514600" cy="205740"/>
          </a:xfrm>
          <a:prstGeom prst="roundRect">
            <a:avLst>
              <a:gd name="adj" fmla="val 22222"/>
            </a:avLst>
          </a:prstGeom>
          <a:solidFill>
            <a:srgbClr val="0071E3"/>
          </a:solidFill>
          <a:ln w="12700">
            <a:solidFill>
              <a:srgbClr val="0071E3"/>
            </a:solidFill>
            <a:prstDash val="solid"/>
          </a:ln>
        </p:spPr>
      </p:sp>
      <p:sp>
        <p:nvSpPr>
          <p:cNvPr id="74" name="Text 72"/>
          <p:cNvSpPr txBox="1"/>
          <p:nvPr/>
        </p:nvSpPr>
        <p:spPr>
          <a:xfrm>
            <a:off x="1728216" y="5600700"/>
            <a:ext cx="2404872" cy="2057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Sendgrid to SF Pipeline</a:t>
            </a:r>
            <a:endParaRPr lang="en-US" sz="850" dirty="0"/>
          </a:p>
        </p:txBody>
      </p:sp>
      <p:sp>
        <p:nvSpPr>
          <p:cNvPr id="75" name="Shape 73"/>
          <p:cNvSpPr/>
          <p:nvPr/>
        </p:nvSpPr>
        <p:spPr>
          <a:xfrm>
            <a:off x="6858000" y="5600700"/>
            <a:ext cx="4873752" cy="205740"/>
          </a:xfrm>
          <a:prstGeom prst="roundRect">
            <a:avLst>
              <a:gd name="adj" fmla="val 22222"/>
            </a:avLst>
          </a:prstGeom>
          <a:solidFill>
            <a:srgbClr val="FFFFFF"/>
          </a:solidFill>
          <a:ln w="12700">
            <a:solidFill>
              <a:srgbClr val="8E8E93"/>
            </a:solidFill>
            <a:prstDash val="dash"/>
          </a:ln>
        </p:spPr>
      </p:sp>
      <p:sp>
        <p:nvSpPr>
          <p:cNvPr id="76" name="Text 74"/>
          <p:cNvSpPr txBox="1"/>
          <p:nvPr/>
        </p:nvSpPr>
        <p:spPr>
          <a:xfrm>
            <a:off x="6940296" y="5600700"/>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Digital Analytics Infrastructure</a:t>
            </a:r>
            <a:endParaRPr lang="en-US" sz="850" dirty="0"/>
          </a:p>
        </p:txBody>
      </p:sp>
      <p:sp>
        <p:nvSpPr>
          <p:cNvPr id="77" name="Shape 75"/>
          <p:cNvSpPr/>
          <p:nvPr/>
        </p:nvSpPr>
        <p:spPr>
          <a:xfrm>
            <a:off x="6858000" y="5843016"/>
            <a:ext cx="4873752" cy="205740"/>
          </a:xfrm>
          <a:prstGeom prst="roundRect">
            <a:avLst>
              <a:gd name="adj" fmla="val 22222"/>
            </a:avLst>
          </a:prstGeom>
          <a:solidFill>
            <a:srgbClr val="FFFFFF"/>
          </a:solidFill>
          <a:ln w="12700">
            <a:solidFill>
              <a:srgbClr val="8E8E93"/>
            </a:solidFill>
            <a:prstDash val="dash"/>
          </a:ln>
        </p:spPr>
      </p:sp>
      <p:sp>
        <p:nvSpPr>
          <p:cNvPr id="78" name="Text 76"/>
          <p:cNvSpPr txBox="1"/>
          <p:nvPr/>
        </p:nvSpPr>
        <p:spPr>
          <a:xfrm>
            <a:off x="6940296" y="5843016"/>
            <a:ext cx="4764024" cy="205740"/>
          </a:xfrm>
          <a:prstGeom prst="rect">
            <a:avLst/>
          </a:prstGeom>
          <a:noFill/>
          <a:ln/>
        </p:spPr>
        <p:txBody>
          <a:bodyPr wrap="square" lIns="0" tIns="0" rIns="0" bIns="0" rtlCol="0" anchor="ctr"/>
          <a:lstStyle/>
          <a:p>
            <a:pPr indent="0" marL="0">
              <a:buNone/>
            </a:pPr>
            <a:r>
              <a:rPr lang="en-US" sz="850" dirty="0">
                <a:solidFill>
                  <a:srgbClr val="3A3A3C"/>
                </a:solidFill>
                <a:latin typeface="Arial" pitchFamily="34" charset="0"/>
                <a:ea typeface="Arial" pitchFamily="34" charset="-122"/>
                <a:cs typeface="Arial" pitchFamily="34" charset="-120"/>
              </a:rPr>
              <a:t>Backend Promo Code Automation</a:t>
            </a:r>
            <a:endParaRPr lang="en-US" sz="850" dirty="0"/>
          </a:p>
        </p:txBody>
      </p:sp>
      <p:sp>
        <p:nvSpPr>
          <p:cNvPr id="79" name="Shape 77"/>
          <p:cNvSpPr/>
          <p:nvPr/>
        </p:nvSpPr>
        <p:spPr>
          <a:xfrm>
            <a:off x="365760" y="6131052"/>
            <a:ext cx="11457432" cy="0"/>
          </a:xfrm>
          <a:prstGeom prst="line">
            <a:avLst/>
          </a:prstGeom>
          <a:noFill/>
          <a:ln w="9525">
            <a:solidFill>
              <a:srgbClr val="D2D2D7"/>
            </a:solidFill>
            <a:prstDash val="solid"/>
          </a:ln>
        </p:spPr>
      </p:sp>
      <p:sp>
        <p:nvSpPr>
          <p:cNvPr id="80" name="Text 78"/>
          <p:cNvSpPr txBox="1"/>
          <p:nvPr/>
        </p:nvSpPr>
        <p:spPr>
          <a:xfrm>
            <a:off x="475488" y="6204204"/>
            <a:ext cx="1051560" cy="182880"/>
          </a:xfrm>
          <a:prstGeom prst="rect">
            <a:avLst/>
          </a:prstGeom>
          <a:noFill/>
          <a:ln/>
        </p:spPr>
        <p:txBody>
          <a:bodyPr wrap="square" lIns="0" tIns="0" rIns="0" bIns="0" rtlCol="0" anchor="t"/>
          <a:lstStyle/>
          <a:p>
            <a:pPr indent="0" marL="0">
              <a:buNone/>
            </a:pPr>
            <a:r>
              <a:rPr lang="en-US" sz="1000" b="1" dirty="0">
                <a:solidFill>
                  <a:srgbClr val="6E6E73"/>
                </a:solidFill>
                <a:latin typeface="Arial" pitchFamily="34" charset="0"/>
                <a:ea typeface="Arial" pitchFamily="34" charset="-122"/>
                <a:cs typeface="Arial" pitchFamily="34" charset="-120"/>
              </a:rPr>
              <a:t>Not yet placed</a:t>
            </a:r>
            <a:endParaRPr lang="en-US" sz="1000" dirty="0"/>
          </a:p>
        </p:txBody>
      </p:sp>
      <p:sp>
        <p:nvSpPr>
          <p:cNvPr id="81" name="Text 79"/>
          <p:cNvSpPr txBox="1"/>
          <p:nvPr/>
        </p:nvSpPr>
        <p:spPr>
          <a:xfrm>
            <a:off x="475488" y="6377940"/>
            <a:ext cx="1051560" cy="164592"/>
          </a:xfrm>
          <a:prstGeom prst="rect">
            <a:avLst/>
          </a:prstGeom>
          <a:noFill/>
          <a:ln/>
        </p:spPr>
        <p:txBody>
          <a:bodyPr wrap="square" lIns="0" tIns="0" rIns="0" bIns="0" rtlCol="0" anchor="t"/>
          <a:lstStyle/>
          <a:p>
            <a:pPr indent="0" marL="0">
              <a:buNone/>
            </a:pPr>
            <a:r>
              <a:rPr lang="en-US" sz="750" dirty="0">
                <a:solidFill>
                  <a:srgbClr val="6E6E73"/>
                </a:solidFill>
                <a:latin typeface="Arial" pitchFamily="34" charset="0"/>
                <a:ea typeface="Arial" pitchFamily="34" charset="-122"/>
                <a:cs typeface="Arial" pitchFamily="34" charset="-120"/>
              </a:rPr>
              <a:t>From 2027 vision</a:t>
            </a:r>
            <a:endParaRPr lang="en-US" sz="750" dirty="0"/>
          </a:p>
        </p:txBody>
      </p:sp>
      <p:sp>
        <p:nvSpPr>
          <p:cNvPr id="82" name="Shape 80"/>
          <p:cNvSpPr/>
          <p:nvPr/>
        </p:nvSpPr>
        <p:spPr>
          <a:xfrm>
            <a:off x="1645920" y="6249924"/>
            <a:ext cx="1691640" cy="205740"/>
          </a:xfrm>
          <a:prstGeom prst="roundRect">
            <a:avLst>
              <a:gd name="adj" fmla="val 48889"/>
            </a:avLst>
          </a:prstGeom>
          <a:solidFill>
            <a:srgbClr val="F5F5F7"/>
          </a:solidFill>
          <a:ln w="9525">
            <a:solidFill>
              <a:srgbClr val="C7C7CC"/>
            </a:solidFill>
            <a:prstDash val="solid"/>
          </a:ln>
        </p:spPr>
      </p:sp>
      <p:sp>
        <p:nvSpPr>
          <p:cNvPr id="83" name="Text 81"/>
          <p:cNvSpPr txBox="1"/>
          <p:nvPr/>
        </p:nvSpPr>
        <p:spPr>
          <a:xfrm>
            <a:off x="1645920" y="6249924"/>
            <a:ext cx="1691640" cy="205740"/>
          </a:xfrm>
          <a:prstGeom prst="rect">
            <a:avLst/>
          </a:prstGeom>
          <a:noFill/>
          <a:ln/>
        </p:spPr>
        <p:txBody>
          <a:bodyPr wrap="square" lIns="0" tIns="0" rIns="0" bIns="0" rtlCol="0" anchor="ctr"/>
          <a:lstStyle/>
          <a:p>
            <a:pPr algn="ctr" indent="0" marL="0">
              <a:buNone/>
            </a:pPr>
            <a:r>
              <a:rPr lang="en-US" sz="850" dirty="0">
                <a:solidFill>
                  <a:srgbClr val="6E6E73"/>
                </a:solidFill>
                <a:latin typeface="Arial" pitchFamily="34" charset="0"/>
                <a:ea typeface="Arial" pitchFamily="34" charset="-122"/>
                <a:cs typeface="Arial" pitchFamily="34" charset="-120"/>
              </a:rPr>
              <a:t>Sagent Dara loan payments</a:t>
            </a:r>
            <a:endParaRPr lang="en-US" sz="850" dirty="0"/>
          </a:p>
        </p:txBody>
      </p:sp>
      <p:sp>
        <p:nvSpPr>
          <p:cNvPr id="84" name="Shape 82"/>
          <p:cNvSpPr/>
          <p:nvPr/>
        </p:nvSpPr>
        <p:spPr>
          <a:xfrm>
            <a:off x="3447288" y="6249924"/>
            <a:ext cx="1181405" cy="205740"/>
          </a:xfrm>
          <a:prstGeom prst="roundRect">
            <a:avLst>
              <a:gd name="adj" fmla="val 48889"/>
            </a:avLst>
          </a:prstGeom>
          <a:solidFill>
            <a:srgbClr val="F5F5F7"/>
          </a:solidFill>
          <a:ln w="9525">
            <a:solidFill>
              <a:srgbClr val="C7C7CC"/>
            </a:solidFill>
            <a:prstDash val="solid"/>
          </a:ln>
        </p:spPr>
      </p:sp>
      <p:sp>
        <p:nvSpPr>
          <p:cNvPr id="85" name="Text 83"/>
          <p:cNvSpPr txBox="1"/>
          <p:nvPr/>
        </p:nvSpPr>
        <p:spPr>
          <a:xfrm>
            <a:off x="3447288" y="6249924"/>
            <a:ext cx="1181405" cy="205740"/>
          </a:xfrm>
          <a:prstGeom prst="rect">
            <a:avLst/>
          </a:prstGeom>
          <a:noFill/>
          <a:ln/>
        </p:spPr>
        <p:txBody>
          <a:bodyPr wrap="square" lIns="0" tIns="0" rIns="0" bIns="0" rtlCol="0" anchor="ctr"/>
          <a:lstStyle/>
          <a:p>
            <a:pPr algn="ctr" indent="0" marL="0">
              <a:buNone/>
            </a:pPr>
            <a:r>
              <a:rPr lang="en-US" sz="850" dirty="0">
                <a:solidFill>
                  <a:srgbClr val="6E6E73"/>
                </a:solidFill>
                <a:latin typeface="Arial" pitchFamily="34" charset="0"/>
                <a:ea typeface="Arial" pitchFamily="34" charset="-122"/>
                <a:cs typeface="Arial" pitchFamily="34" charset="-120"/>
              </a:rPr>
              <a:t>Dispute research</a:t>
            </a:r>
            <a:endParaRPr lang="en-US" sz="850" dirty="0"/>
          </a:p>
        </p:txBody>
      </p:sp>
      <p:sp>
        <p:nvSpPr>
          <p:cNvPr id="86" name="Shape 84"/>
          <p:cNvSpPr/>
          <p:nvPr/>
        </p:nvSpPr>
        <p:spPr>
          <a:xfrm>
            <a:off x="4738421" y="6249924"/>
            <a:ext cx="727862" cy="205740"/>
          </a:xfrm>
          <a:prstGeom prst="roundRect">
            <a:avLst>
              <a:gd name="adj" fmla="val 48889"/>
            </a:avLst>
          </a:prstGeom>
          <a:solidFill>
            <a:srgbClr val="F5F5F7"/>
          </a:solidFill>
          <a:ln w="9525">
            <a:solidFill>
              <a:srgbClr val="C7C7CC"/>
            </a:solidFill>
            <a:prstDash val="solid"/>
          </a:ln>
        </p:spPr>
      </p:sp>
      <p:sp>
        <p:nvSpPr>
          <p:cNvPr id="87" name="Text 85"/>
          <p:cNvSpPr txBox="1"/>
          <p:nvPr/>
        </p:nvSpPr>
        <p:spPr>
          <a:xfrm>
            <a:off x="4738421" y="6249924"/>
            <a:ext cx="727862" cy="205740"/>
          </a:xfrm>
          <a:prstGeom prst="rect">
            <a:avLst/>
          </a:prstGeom>
          <a:noFill/>
          <a:ln/>
        </p:spPr>
        <p:txBody>
          <a:bodyPr wrap="square" lIns="0" tIns="0" rIns="0" bIns="0" rtlCol="0" anchor="ctr"/>
          <a:lstStyle/>
          <a:p>
            <a:pPr algn="ctr" indent="0" marL="0">
              <a:buNone/>
            </a:pPr>
            <a:r>
              <a:rPr lang="en-US" sz="850" dirty="0">
                <a:solidFill>
                  <a:srgbClr val="6E6E73"/>
                </a:solidFill>
                <a:latin typeface="Arial" pitchFamily="34" charset="0"/>
                <a:ea typeface="Arial" pitchFamily="34" charset="-122"/>
                <a:cs typeface="Arial" pitchFamily="34" charset="-120"/>
              </a:rPr>
              <a:t>Passkeys</a:t>
            </a:r>
            <a:endParaRPr lang="en-US" sz="850" dirty="0"/>
          </a:p>
        </p:txBody>
      </p:sp>
      <p:sp>
        <p:nvSpPr>
          <p:cNvPr id="88" name="Shape 86"/>
          <p:cNvSpPr/>
          <p:nvPr/>
        </p:nvSpPr>
        <p:spPr>
          <a:xfrm>
            <a:off x="5576011" y="6249924"/>
            <a:ext cx="1408176" cy="205740"/>
          </a:xfrm>
          <a:prstGeom prst="roundRect">
            <a:avLst>
              <a:gd name="adj" fmla="val 48889"/>
            </a:avLst>
          </a:prstGeom>
          <a:solidFill>
            <a:srgbClr val="F5F5F7"/>
          </a:solidFill>
          <a:ln w="9525">
            <a:solidFill>
              <a:srgbClr val="C7C7CC"/>
            </a:solidFill>
            <a:prstDash val="solid"/>
          </a:ln>
        </p:spPr>
      </p:sp>
      <p:sp>
        <p:nvSpPr>
          <p:cNvPr id="89" name="Text 87"/>
          <p:cNvSpPr txBox="1"/>
          <p:nvPr/>
        </p:nvSpPr>
        <p:spPr>
          <a:xfrm>
            <a:off x="5576011" y="6249924"/>
            <a:ext cx="1408176" cy="205740"/>
          </a:xfrm>
          <a:prstGeom prst="rect">
            <a:avLst/>
          </a:prstGeom>
          <a:noFill/>
          <a:ln/>
        </p:spPr>
        <p:txBody>
          <a:bodyPr wrap="square" lIns="0" tIns="0" rIns="0" bIns="0" rtlCol="0" anchor="ctr"/>
          <a:lstStyle/>
          <a:p>
            <a:pPr algn="ctr" indent="0" marL="0">
              <a:buNone/>
            </a:pPr>
            <a:r>
              <a:rPr lang="en-US" sz="850" dirty="0">
                <a:solidFill>
                  <a:srgbClr val="6E6E73"/>
                </a:solidFill>
                <a:latin typeface="Arial" pitchFamily="34" charset="0"/>
                <a:ea typeface="Arial" pitchFamily="34" charset="-122"/>
                <a:cs typeface="Arial" pitchFamily="34" charset="-120"/>
              </a:rPr>
              <a:t>Personetics insights</a:t>
            </a:r>
            <a:endParaRPr lang="en-US" sz="850" dirty="0"/>
          </a:p>
        </p:txBody>
      </p:sp>
      <p:sp>
        <p:nvSpPr>
          <p:cNvPr id="90" name="Shape 88"/>
          <p:cNvSpPr/>
          <p:nvPr/>
        </p:nvSpPr>
        <p:spPr>
          <a:xfrm>
            <a:off x="7093915" y="6249924"/>
            <a:ext cx="1748333" cy="205740"/>
          </a:xfrm>
          <a:prstGeom prst="roundRect">
            <a:avLst>
              <a:gd name="adj" fmla="val 48889"/>
            </a:avLst>
          </a:prstGeom>
          <a:solidFill>
            <a:srgbClr val="F5F5F7"/>
          </a:solidFill>
          <a:ln w="9525">
            <a:solidFill>
              <a:srgbClr val="C7C7CC"/>
            </a:solidFill>
            <a:prstDash val="solid"/>
          </a:ln>
        </p:spPr>
      </p:sp>
      <p:sp>
        <p:nvSpPr>
          <p:cNvPr id="91" name="Text 89"/>
          <p:cNvSpPr txBox="1"/>
          <p:nvPr/>
        </p:nvSpPr>
        <p:spPr>
          <a:xfrm>
            <a:off x="7093915" y="6249924"/>
            <a:ext cx="1748333" cy="205740"/>
          </a:xfrm>
          <a:prstGeom prst="rect">
            <a:avLst/>
          </a:prstGeom>
          <a:noFill/>
          <a:ln/>
        </p:spPr>
        <p:txBody>
          <a:bodyPr wrap="square" lIns="0" tIns="0" rIns="0" bIns="0" rtlCol="0" anchor="ctr"/>
          <a:lstStyle/>
          <a:p>
            <a:pPr algn="ctr" indent="0" marL="0">
              <a:buNone/>
            </a:pPr>
            <a:r>
              <a:rPr lang="en-US" sz="850" dirty="0">
                <a:solidFill>
                  <a:srgbClr val="6E6E73"/>
                </a:solidFill>
                <a:latin typeface="Arial" pitchFamily="34" charset="0"/>
                <a:ea typeface="Arial" pitchFamily="34" charset="-122"/>
                <a:cs typeface="Arial" pitchFamily="34" charset="-120"/>
              </a:rPr>
              <a:t>Mantl shared-form research</a:t>
            </a:r>
            <a:endParaRPr lang="en-US" sz="850" dirty="0"/>
          </a:p>
        </p:txBody>
      </p:sp>
      <p:sp>
        <p:nvSpPr>
          <p:cNvPr id="92" name="Shape 90"/>
          <p:cNvSpPr/>
          <p:nvPr/>
        </p:nvSpPr>
        <p:spPr>
          <a:xfrm>
            <a:off x="365760" y="6588252"/>
            <a:ext cx="11457432" cy="0"/>
          </a:xfrm>
          <a:prstGeom prst="line">
            <a:avLst/>
          </a:prstGeom>
          <a:noFill/>
          <a:ln w="9525">
            <a:solidFill>
              <a:srgbClr val="D2D2D7"/>
            </a:solidFill>
            <a:prstDash val="solid"/>
          </a:ln>
        </p:spPr>
      </p:sp>
      <p:sp>
        <p:nvSpPr>
          <p:cNvPr id="93" name="Shape 91"/>
          <p:cNvSpPr/>
          <p:nvPr/>
        </p:nvSpPr>
        <p:spPr>
          <a:xfrm>
            <a:off x="1554480" y="941832"/>
            <a:ext cx="0" cy="5646420"/>
          </a:xfrm>
          <a:prstGeom prst="line">
            <a:avLst/>
          </a:prstGeom>
          <a:noFill/>
          <a:ln w="15875">
            <a:solidFill>
              <a:srgbClr val="FF3B30"/>
            </a:solidFill>
            <a:prstDash val="solid"/>
          </a:ln>
        </p:spPr>
      </p:sp>
      <p:sp>
        <p:nvSpPr>
          <p:cNvPr id="94" name="Text 92"/>
          <p:cNvSpPr txBox="1"/>
          <p:nvPr/>
        </p:nvSpPr>
        <p:spPr>
          <a:xfrm>
            <a:off x="1051560" y="941832"/>
            <a:ext cx="457200" cy="182880"/>
          </a:xfrm>
          <a:prstGeom prst="rect">
            <a:avLst/>
          </a:prstGeom>
          <a:noFill/>
          <a:ln/>
        </p:spPr>
        <p:txBody>
          <a:bodyPr wrap="square" lIns="0" tIns="0" rIns="0" bIns="0" rtlCol="0" anchor="t"/>
          <a:lstStyle/>
          <a:p>
            <a:pPr algn="r" indent="0" marL="0">
              <a:buNone/>
            </a:pPr>
            <a:r>
              <a:rPr lang="en-US" sz="800" b="1" dirty="0">
                <a:solidFill>
                  <a:srgbClr val="FF3B30"/>
                </a:solidFill>
                <a:latin typeface="Arial" pitchFamily="34" charset="0"/>
                <a:ea typeface="Arial" pitchFamily="34" charset="-122"/>
                <a:cs typeface="Arial" pitchFamily="34" charset="-120"/>
              </a:rPr>
              <a:t>Today</a:t>
            </a:r>
            <a:endParaRPr lang="en-US" sz="800" dirty="0"/>
          </a:p>
        </p:txBody>
      </p:sp>
      <p:sp>
        <p:nvSpPr>
          <p:cNvPr id="95" name="Text 93"/>
          <p:cNvSpPr txBox="1"/>
          <p:nvPr/>
        </p:nvSpPr>
        <p:spPr>
          <a:xfrm>
            <a:off x="365760" y="6661404"/>
            <a:ext cx="10058400" cy="182880"/>
          </a:xfrm>
          <a:prstGeom prst="rect">
            <a:avLst/>
          </a:prstGeom>
          <a:noFill/>
          <a:ln/>
        </p:spPr>
        <p:txBody>
          <a:bodyPr wrap="square" lIns="0" tIns="0" rIns="0" bIns="0" rtlCol="0" anchor="t"/>
          <a:lstStyle/>
          <a:p>
            <a:pPr indent="0" marL="0">
              <a:buNone/>
            </a:pPr>
            <a:r>
              <a:rPr lang="en-US" sz="850" dirty="0">
                <a:solidFill>
                  <a:srgbClr val="6E6E73"/>
                </a:solidFill>
                <a:latin typeface="Arial" pitchFamily="34" charset="0"/>
                <a:ea typeface="Arial" pitchFamily="34" charset="-122"/>
                <a:cs typeface="Arial" pitchFamily="34" charset="-120"/>
              </a:rPr>
              <a:t>Priorities span April–December; timing within that window follows planning and vendor proposals.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2026-09-29T12:30:53Z</dcterms:created>
  <dcterms:modified xsi:type="dcterms:W3CDTF">2026-09-29T12:30:53Z</dcterms:modified>
</cp:coreProperties>
</file>